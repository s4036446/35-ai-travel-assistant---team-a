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7" r:id="rId2"/>
    <p:sldId id="256" r:id="rId3"/>
    <p:sldId id="257" r:id="rId4"/>
    <p:sldId id="263" r:id="rId5"/>
    <p:sldId id="266" r:id="rId6"/>
    <p:sldId id="285" r:id="rId7"/>
    <p:sldId id="271" r:id="rId8"/>
    <p:sldId id="284" r:id="rId9"/>
    <p:sldId id="259" r:id="rId10"/>
    <p:sldId id="260" r:id="rId11"/>
    <p:sldId id="261" r:id="rId12"/>
    <p:sldId id="264" r:id="rId13"/>
    <p:sldId id="265" r:id="rId14"/>
    <p:sldId id="26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668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90" y="100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351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3B059-E4BA-FAAA-CED8-0C0A063D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F9534-EBEF-3112-5B03-B29EA826D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12B76-BCCC-3895-3345-A483705B1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FA163-961C-C368-05EA-997B1B44B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46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0DF4-A03C-6EDF-28D4-C5DF7F91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2411B-6ECB-B267-50E1-D04C201E9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93760-6F77-EDEB-FBEC-E607226EF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F955A-B85D-DDEA-0B58-18D423F0E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1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86681-EEDB-BD60-3D72-097E0495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CE598-37F3-86AD-BCAA-7072CBC88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88091-2280-0AFC-BFB0-5E4AEB3AE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E6506-89AA-A610-2991-B5ADE0623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85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769A-08A6-117F-F156-099AB4AF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BC83C4-B7B2-395F-2D87-E90AA4350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2F8BA-2429-C698-4D08-4A1FB9FF3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228EF-07C6-2C29-4479-A8F88D6CE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37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63C7-7C74-EE5C-1325-2EA27923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493C7-B5CF-F05A-92EC-E5E9A41EC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EF62D-545F-A693-D931-4D1E64FFB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70714-DF67-C662-6F8B-FE45200AD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35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480E2-01A0-EF13-6FE6-2B3D267E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FBBD2-B283-46FD-ECF4-D92132E23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87CC6-3660-716D-4E65-EF11FED76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8656E-8819-F804-747A-5E2BEBAF8E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1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36D2-00F9-6932-CD1B-D93853F9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1561E-F288-6B64-C312-7AAF539F6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5A9C5-42DC-A2B6-FEF3-7CED9E0D3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31AF5-610D-7276-1B57-CD93EAF11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99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">
            <a:extLst>
              <a:ext uri="{FF2B5EF4-FFF2-40B4-BE49-F238E27FC236}">
                <a16:creationId xmlns:a16="http://schemas.microsoft.com/office/drawing/2014/main" id="{8458EB76-4ACD-2ADA-0578-1CD0E87A194D}"/>
              </a:ext>
            </a:extLst>
          </p:cNvPr>
          <p:cNvSpPr/>
          <p:nvPr/>
        </p:nvSpPr>
        <p:spPr>
          <a:xfrm>
            <a:off x="129395" y="133708"/>
            <a:ext cx="11947586" cy="6586268"/>
          </a:xfrm>
          <a:prstGeom prst="roundRect">
            <a:avLst>
              <a:gd name="adj" fmla="val 2857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94D404E1-687A-EF78-24F9-F8FCE4091C78}"/>
              </a:ext>
            </a:extLst>
          </p:cNvPr>
          <p:cNvSpPr/>
          <p:nvPr/>
        </p:nvSpPr>
        <p:spPr>
          <a:xfrm>
            <a:off x="2736011" y="2281685"/>
            <a:ext cx="6719977" cy="2294627"/>
          </a:xfrm>
          <a:prstGeom prst="roundRect">
            <a:avLst>
              <a:gd name="adj" fmla="val 10667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09CEB1BF-7604-EEDD-70A0-B57E7A8BC49D}"/>
              </a:ext>
            </a:extLst>
          </p:cNvPr>
          <p:cNvSpPr txBox="1"/>
          <p:nvPr/>
        </p:nvSpPr>
        <p:spPr>
          <a:xfrm>
            <a:off x="2743200" y="3083942"/>
            <a:ext cx="671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YAF AI Travel Assistant Chatbot</a:t>
            </a:r>
            <a:endParaRPr lang="en-US" sz="30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1F583FE-D32B-186F-E248-9F34DC602063}"/>
              </a:ext>
            </a:extLst>
          </p:cNvPr>
          <p:cNvSpPr txBox="1"/>
          <p:nvPr/>
        </p:nvSpPr>
        <p:spPr>
          <a:xfrm>
            <a:off x="268026" y="0"/>
            <a:ext cx="11655946" cy="13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1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Daniel Francisco, Ryan Lim, Wen Bin Liang, Khanh Nguyen, Aindrila Das Prapti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EBF43C-8A62-7F9D-FC64-7B4B1A63F372}"/>
              </a:ext>
            </a:extLst>
          </p:cNvPr>
          <p:cNvSpPr txBox="1"/>
          <p:nvPr/>
        </p:nvSpPr>
        <p:spPr>
          <a:xfrm>
            <a:off x="8176115" y="6719976"/>
            <a:ext cx="3747858" cy="138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1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A – 35</a:t>
            </a: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Project: </a:t>
            </a:r>
            <a:r>
              <a:rPr lang="en-US" sz="11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Travel Assistant</a:t>
            </a:r>
            <a:endParaRPr lang="en-US" sz="11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EB6C52A-C535-3878-7D06-A1F65A930C6C}"/>
              </a:ext>
            </a:extLst>
          </p:cNvPr>
          <p:cNvSpPr txBox="1"/>
          <p:nvPr/>
        </p:nvSpPr>
        <p:spPr>
          <a:xfrm>
            <a:off x="268027" y="6719976"/>
            <a:ext cx="2494072" cy="138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COSC2408 – </a:t>
            </a:r>
            <a:r>
              <a:rPr lang="en-US" sz="11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Project 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51993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1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18120" y="1508760"/>
            <a:ext cx="3840480" cy="4572000"/>
          </a:xfrm>
          <a:prstGeom prst="roundRect">
            <a:avLst>
              <a:gd name="adj" fmla="val 2857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81381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 TRAVELER JUGGLES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8160" y="2286000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8321040" y="22860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booking site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2852928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8321040" y="285292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accessibility desk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3419856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8321040" y="34198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accessibility reviews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3986784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8321040" y="398678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/ rental services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ONE ACCESSIBILITY-AWARE ASSISTANT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507492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 txBox="1"/>
          <p:nvPr/>
        </p:nvSpPr>
        <p:spPr>
          <a:xfrm>
            <a:off x="8138160" y="5074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YAF AI Travel Assistant Chatbot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1600200"/>
            <a:ext cx="6903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AU" sz="1600" dirty="0"/>
              <a:t>Flights, hotels, transfers, accessibility checks — travellers with disabilities have to manage it all across separate platforms, with nothing built to bring it together.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97180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YAF ALREADY HAS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310128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 txBox="1"/>
          <p:nvPr/>
        </p:nvSpPr>
        <p:spPr>
          <a:xfrm>
            <a:off x="50292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3273552"/>
            <a:ext cx="644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app with wheelchair / mobility-equipment profiles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3767328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 txBox="1"/>
          <p:nvPr/>
        </p:nvSpPr>
        <p:spPr>
          <a:xfrm>
            <a:off x="50292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730752"/>
            <a:ext cx="644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Airline-specific wheelchair &amp; battery verification, QR sharing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2920" y="4224528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 txBox="1"/>
          <p:nvPr/>
        </p:nvSpPr>
        <p:spPr>
          <a:xfrm>
            <a:off x="50292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4187952"/>
            <a:ext cx="644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</a:t>
            </a:r>
            <a:r>
              <a:rPr lang="en-AU" sz="1400" dirty="0"/>
              <a:t>Chatbot</a:t>
            </a: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internal aviation &amp; accessibility data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89204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52120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 txBox="1"/>
          <p:nvPr/>
        </p:nvSpPr>
        <p:spPr>
          <a:xfrm>
            <a:off x="685800" y="5212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with disabilities &amp; companions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977640" y="52120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 txBox="1"/>
          <p:nvPr/>
        </p:nvSpPr>
        <p:spPr>
          <a:xfrm>
            <a:off x="4160520" y="5212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Airport, airline &amp; ground-handling staff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2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Plan — Week 1 Commitment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set in the client proposal and Sprint 1 plan, before this week's work began.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414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initial requirements &amp; low-fidelity wireframes for a candidate Sprint 2 feature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BASELINE FEATURE (from the original client proposal)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1185855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 txBox="1"/>
          <p:nvPr/>
        </p:nvSpPr>
        <p:spPr>
          <a:xfrm>
            <a:off x="777240" y="42519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QR Scan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206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scan a passenger's QR code to instantly see verified mobility-equipment details and a pass/fail compliance check — built as the counterpart to the existing passenger-facing verification app.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committed: initial requirements document, low-fidelity wireframes, (scan results &amp; error states), and a client status update – no formal sign-off required at this stage.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E9E29-80AE-843C-B6B1-7253268D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B6B20D-6647-1E97-49E7-13CAFFA57B38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2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58CE8D-ABD6-2A72-D5E2-284316041340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Plan — Week 2 Revision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B09B12-789C-8018-AA31-18747B3A2716}"/>
              </a:ext>
            </a:extLst>
          </p:cNvPr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set in the client proposal and Sprint 1 plan, before this week's work began.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266833B-591D-827C-9396-C94DF84097AD}"/>
              </a:ext>
            </a:extLst>
          </p:cNvPr>
          <p:cNvSpPr/>
          <p:nvPr/>
        </p:nvSpPr>
        <p:spPr>
          <a:xfrm>
            <a:off x="4251960" y="1965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493F31-13B4-5D2E-9454-DB831BB67A45}"/>
              </a:ext>
            </a:extLst>
          </p:cNvPr>
          <p:cNvSpPr txBox="1"/>
          <p:nvPr/>
        </p:nvSpPr>
        <p:spPr>
          <a:xfrm>
            <a:off x="448056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9D5402-65B9-D47F-8FBA-3B19828ED1B0}"/>
              </a:ext>
            </a:extLst>
          </p:cNvPr>
          <p:cNvSpPr txBox="1"/>
          <p:nvPr/>
        </p:nvSpPr>
        <p:spPr>
          <a:xfrm>
            <a:off x="4480560" y="24414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requirements, build prototypes, secure client sign-off before development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F366C66-BA9E-959D-7F68-AB5C2FB1F396}"/>
              </a:ext>
            </a:extLst>
          </p:cNvPr>
          <p:cNvSpPr/>
          <p:nvPr/>
        </p:nvSpPr>
        <p:spPr>
          <a:xfrm>
            <a:off x="8001000" y="1965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5D8953-393C-D4F7-48AE-B9A5452F097C}"/>
              </a:ext>
            </a:extLst>
          </p:cNvPr>
          <p:cNvSpPr txBox="1"/>
          <p:nvPr/>
        </p:nvSpPr>
        <p:spPr>
          <a:xfrm>
            <a:off x="822960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C805545-5FB3-D554-5826-F56703E48A94}"/>
              </a:ext>
            </a:extLst>
          </p:cNvPr>
          <p:cNvSpPr txBox="1"/>
          <p:nvPr/>
        </p:nvSpPr>
        <p:spPr>
          <a:xfrm>
            <a:off x="8229600" y="24414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— present plan quality &amp; forward progress to supervisor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6A68685-F17B-F23B-A81A-309EF9D2284D}"/>
              </a:ext>
            </a:extLst>
          </p:cNvPr>
          <p:cNvSpPr txBox="1"/>
          <p:nvPr/>
        </p:nvSpPr>
        <p:spPr>
          <a:xfrm>
            <a:off x="50292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BASELINE FEATURE (revised, per the client-confirmed proposal)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13CC40D-9DE3-FA20-3C9E-19AD0A22E4B3}"/>
              </a:ext>
            </a:extLst>
          </p:cNvPr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committed: revised requirements document, low and high-fidelity prototypes, and full client sign-off before Sprint 2 development begins.</a:t>
            </a:r>
            <a:endParaRPr lang="en-US" sz="12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316E0A6-2D84-F47B-95F0-45D532CF396D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DE967B-9B16-7916-36C9-91CBE373C832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67D3167B-60C4-5DD1-BC19-1F9657E926B4}"/>
              </a:ext>
            </a:extLst>
          </p:cNvPr>
          <p:cNvSpPr/>
          <p:nvPr/>
        </p:nvSpPr>
        <p:spPr>
          <a:xfrm>
            <a:off x="503072" y="4046220"/>
            <a:ext cx="11185855" cy="1691640"/>
          </a:xfrm>
          <a:prstGeom prst="roundRect">
            <a:avLst>
              <a:gd name="adj" fmla="val 5405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84C06E56-7FBA-FA30-85E0-6985063D9061}"/>
              </a:ext>
            </a:extLst>
          </p:cNvPr>
          <p:cNvSpPr/>
          <p:nvPr/>
        </p:nvSpPr>
        <p:spPr>
          <a:xfrm>
            <a:off x="777392" y="42748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E8AF6781-915E-B9BC-8907-476032868333}"/>
              </a:ext>
            </a:extLst>
          </p:cNvPr>
          <p:cNvSpPr txBox="1"/>
          <p:nvPr/>
        </p:nvSpPr>
        <p:spPr>
          <a:xfrm>
            <a:off x="777392" y="42748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Travel Assistant Chatbot</a:t>
            </a:r>
            <a:endParaRPr lang="en-US" sz="18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42C29C1D-2229-2EE6-D4B4-12F9A15B2B01}"/>
              </a:ext>
            </a:extLst>
          </p:cNvPr>
          <p:cNvSpPr txBox="1"/>
          <p:nvPr/>
        </p:nvSpPr>
        <p:spPr>
          <a:xfrm>
            <a:off x="4206392" y="42291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Flight-number/destination → route, aircraft &amp; accessibility match → hotel suggestion — replacing the staff-only scan with the feature the client's own travelers will use.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881780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CB38C-D1CA-04A0-6991-9B22861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512C04-E9F1-093B-B9BE-8782CDDBEBEF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3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E4E9DD-9BB6-FFE0-EF55-C0A1E927E2EE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Achievement — Week 1 Evidence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EB6A87-1372-3C97-8918-F2FD3DBC4493}"/>
              </a:ext>
            </a:extLst>
          </p:cNvPr>
          <p:cNvSpPr/>
          <p:nvPr/>
        </p:nvSpPr>
        <p:spPr>
          <a:xfrm>
            <a:off x="50292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4ABE8C-EB48-AC77-8763-BBB56D207C7F}"/>
              </a:ext>
            </a:extLst>
          </p:cNvPr>
          <p:cNvSpPr txBox="1"/>
          <p:nvPr/>
        </p:nvSpPr>
        <p:spPr>
          <a:xfrm>
            <a:off x="68580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3FDB20-272D-A6AC-03BB-825E637EC03F}"/>
              </a:ext>
            </a:extLst>
          </p:cNvPr>
          <p:cNvSpPr txBox="1"/>
          <p:nvPr/>
        </p:nvSpPr>
        <p:spPr>
          <a:xfrm>
            <a:off x="68580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1 tasks completed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C4405D-43C0-2BD8-939F-118D19E43230}"/>
              </a:ext>
            </a:extLst>
          </p:cNvPr>
          <p:cNvSpPr/>
          <p:nvPr/>
        </p:nvSpPr>
        <p:spPr>
          <a:xfrm>
            <a:off x="425196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323707-3BE3-5D64-F46B-CC6F044CF07E}"/>
              </a:ext>
            </a:extLst>
          </p:cNvPr>
          <p:cNvSpPr txBox="1"/>
          <p:nvPr/>
        </p:nvSpPr>
        <p:spPr>
          <a:xfrm>
            <a:off x="443484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hrs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4D630F-0EAF-0EED-19C7-AAB4BC9414EA}"/>
              </a:ext>
            </a:extLst>
          </p:cNvPr>
          <p:cNvSpPr txBox="1"/>
          <p:nvPr/>
        </p:nvSpPr>
        <p:spPr>
          <a:xfrm>
            <a:off x="443484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this week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1B1BEA9-617E-C7E3-5465-A04DB4333CE4}"/>
              </a:ext>
            </a:extLst>
          </p:cNvPr>
          <p:cNvSpPr/>
          <p:nvPr/>
        </p:nvSpPr>
        <p:spPr>
          <a:xfrm>
            <a:off x="800100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3A07C4-0B0A-0D01-738A-7275A66C1FEA}"/>
              </a:ext>
            </a:extLst>
          </p:cNvPr>
          <p:cNvSpPr txBox="1"/>
          <p:nvPr/>
        </p:nvSpPr>
        <p:spPr>
          <a:xfrm>
            <a:off x="818388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7EC4897-8749-536D-C02B-89C0B062A4F0}"/>
              </a:ext>
            </a:extLst>
          </p:cNvPr>
          <p:cNvSpPr txBox="1"/>
          <p:nvPr/>
        </p:nvSpPr>
        <p:spPr>
          <a:xfrm>
            <a:off x="818388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documents produced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DE4378-D3D5-5827-A359-56361234886A}"/>
              </a:ext>
            </a:extLst>
          </p:cNvPr>
          <p:cNvSpPr txBox="1"/>
          <p:nvPr/>
        </p:nvSpPr>
        <p:spPr>
          <a:xfrm>
            <a:off x="502920" y="26974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built the foundation the pivot was validated against — requirements, wireframes, backend, and research, all shipped on schedule:</a:t>
            </a:r>
            <a:endParaRPr lang="en-US" sz="13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79942D7-DEE2-CC3D-D866-4DD23AE6929A}"/>
              </a:ext>
            </a:extLst>
          </p:cNvPr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EA4809-4063-EF17-8805-4F821E752669}"/>
              </a:ext>
            </a:extLst>
          </p:cNvPr>
          <p:cNvSpPr txBox="1"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DF85BF5-D38B-AA9C-B758-7CF17B6EBB8E}"/>
              </a:ext>
            </a:extLst>
          </p:cNvPr>
          <p:cNvSpPr txBox="1"/>
          <p:nvPr/>
        </p:nvSpPr>
        <p:spPr>
          <a:xfrm>
            <a:off x="941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requirements doc</a:t>
            </a: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QR Scan — problem, target users &amp; candidate feature (BA, 4h)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8D3D0DE-48B5-17A7-3063-56E0FDE26BD2}"/>
              </a:ext>
            </a:extLst>
          </p:cNvPr>
          <p:cNvSpPr/>
          <p:nvPr/>
        </p:nvSpPr>
        <p:spPr>
          <a:xfrm>
            <a:off x="6217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3532E02-E5F4-CBB7-E7A2-C197E24E6231}"/>
              </a:ext>
            </a:extLst>
          </p:cNvPr>
          <p:cNvSpPr txBox="1"/>
          <p:nvPr/>
        </p:nvSpPr>
        <p:spPr>
          <a:xfrm>
            <a:off x="6217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F3D8DD6-C7E4-8DF3-F6E6-028C7CF45BF0}"/>
              </a:ext>
            </a:extLst>
          </p:cNvPr>
          <p:cNvSpPr txBox="1"/>
          <p:nvPr/>
        </p:nvSpPr>
        <p:spPr>
          <a:xfrm>
            <a:off x="6656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 wireframes</a:t>
            </a: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results &amp; error states in Figma (UX, 4h)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B233C3C-0244-7A82-2B54-5CAC20D9E165}"/>
              </a:ext>
            </a:extLst>
          </p:cNvPr>
          <p:cNvSpPr/>
          <p:nvPr/>
        </p:nvSpPr>
        <p:spPr>
          <a:xfrm>
            <a:off x="502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425EB75-40F8-88CC-6835-0566681CFF03}"/>
              </a:ext>
            </a:extLst>
          </p:cNvPr>
          <p:cNvSpPr txBox="1"/>
          <p:nvPr/>
        </p:nvSpPr>
        <p:spPr>
          <a:xfrm>
            <a:off x="502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2C8F3DA-42F7-ACE7-38BB-1C9BB92A927B}"/>
              </a:ext>
            </a:extLst>
          </p:cNvPr>
          <p:cNvSpPr txBox="1"/>
          <p:nvPr/>
        </p:nvSpPr>
        <p:spPr>
          <a:xfrm>
            <a:off x="941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web server &amp; database</a:t>
            </a: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Firestore live, confirmed via test sign-up (Dev, 3h)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F6A856E-7E83-980C-B6F2-7760816017B0}"/>
              </a:ext>
            </a:extLst>
          </p:cNvPr>
          <p:cNvSpPr/>
          <p:nvPr/>
        </p:nvSpPr>
        <p:spPr>
          <a:xfrm>
            <a:off x="6217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8B90FC0-840C-7AE0-BD13-5169756CF8DA}"/>
              </a:ext>
            </a:extLst>
          </p:cNvPr>
          <p:cNvSpPr txBox="1"/>
          <p:nvPr/>
        </p:nvSpPr>
        <p:spPr>
          <a:xfrm>
            <a:off x="6217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B3D754B-7786-941C-420A-FBBC2F399F2E}"/>
              </a:ext>
            </a:extLst>
          </p:cNvPr>
          <p:cNvSpPr txBox="1"/>
          <p:nvPr/>
        </p:nvSpPr>
        <p:spPr>
          <a:xfrm>
            <a:off x="6656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Wheelchair/aircraft-door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standards to inform schema (Dev, 4h)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C426979-283E-7818-F094-CB9193F4E052}"/>
              </a:ext>
            </a:extLst>
          </p:cNvPr>
          <p:cNvSpPr/>
          <p:nvPr/>
        </p:nvSpPr>
        <p:spPr>
          <a:xfrm>
            <a:off x="502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B2DBB4F-6DC1-4411-447C-4025B36B03BD}"/>
              </a:ext>
            </a:extLst>
          </p:cNvPr>
          <p:cNvSpPr txBox="1"/>
          <p:nvPr/>
        </p:nvSpPr>
        <p:spPr>
          <a:xfrm>
            <a:off x="502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CC2AB6E-1DF2-AF08-997D-0213EE054C9D}"/>
              </a:ext>
            </a:extLst>
          </p:cNvPr>
          <p:cNvSpPr txBox="1"/>
          <p:nvPr/>
        </p:nvSpPr>
        <p:spPr>
          <a:xfrm>
            <a:off x="941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status update &amp; agenda</a:t>
            </a: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aligned, no follow-up meeting required (PM, 4h)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5C86F0C-AD32-BFBA-9B1C-9BA1599D9932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C8069C7-0F7D-0BB5-C566-0B0F22458865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foundation is what let us catch the scope pivot early —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2 committed real build time to the wrong feature.</a:t>
            </a:r>
            <a:endParaRPr lang="en-US" sz="12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7C425EF-D484-A79A-DD18-60AAAC369393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95883CA-0E7A-A98B-E19D-2C8C4B3D785A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34226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612D2-BFF7-155E-E2F5-8E085F0E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D837C9-931A-1878-AFA0-680FEC1D7C63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3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91BE08-070D-AD72-29C4-B321054B2920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Achievement — Week 2 Evidence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1BCE76-A9D9-5F28-B5BD-035FDE32F2E3}"/>
              </a:ext>
            </a:extLst>
          </p:cNvPr>
          <p:cNvSpPr/>
          <p:nvPr/>
        </p:nvSpPr>
        <p:spPr>
          <a:xfrm>
            <a:off x="50292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D980F4-2228-E6F4-6AB5-10BA7422D60B}"/>
              </a:ext>
            </a:extLst>
          </p:cNvPr>
          <p:cNvSpPr txBox="1"/>
          <p:nvPr/>
        </p:nvSpPr>
        <p:spPr>
          <a:xfrm>
            <a:off x="68580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867BE1-4DCC-1996-BE11-3240615883FD}"/>
              </a:ext>
            </a:extLst>
          </p:cNvPr>
          <p:cNvSpPr txBox="1"/>
          <p:nvPr/>
        </p:nvSpPr>
        <p:spPr>
          <a:xfrm>
            <a:off x="68580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2 tasks completed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5FC73BC-B03C-4A83-848F-2BBA1DA8EBCE}"/>
              </a:ext>
            </a:extLst>
          </p:cNvPr>
          <p:cNvSpPr/>
          <p:nvPr/>
        </p:nvSpPr>
        <p:spPr>
          <a:xfrm>
            <a:off x="425196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86DD844-C52E-2F3E-763F-4503EF0EDC22}"/>
              </a:ext>
            </a:extLst>
          </p:cNvPr>
          <p:cNvSpPr txBox="1"/>
          <p:nvPr/>
        </p:nvSpPr>
        <p:spPr>
          <a:xfrm>
            <a:off x="443484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32F3E3F-A8A1-53A1-45B5-77DE039B1197}"/>
              </a:ext>
            </a:extLst>
          </p:cNvPr>
          <p:cNvSpPr txBox="1"/>
          <p:nvPr/>
        </p:nvSpPr>
        <p:spPr>
          <a:xfrm>
            <a:off x="443484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this week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E5EE84A-D797-B7B2-677C-0BFEF153B798}"/>
              </a:ext>
            </a:extLst>
          </p:cNvPr>
          <p:cNvSpPr/>
          <p:nvPr/>
        </p:nvSpPr>
        <p:spPr>
          <a:xfrm>
            <a:off x="800100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1B1A179-8318-7B34-CB4D-7403ADA10507}"/>
              </a:ext>
            </a:extLst>
          </p:cNvPr>
          <p:cNvSpPr txBox="1"/>
          <p:nvPr/>
        </p:nvSpPr>
        <p:spPr>
          <a:xfrm>
            <a:off x="818388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1FD17B-B10B-0F7B-A1BF-ADC15F0DFFAE}"/>
              </a:ext>
            </a:extLst>
          </p:cNvPr>
          <p:cNvSpPr txBox="1"/>
          <p:nvPr/>
        </p:nvSpPr>
        <p:spPr>
          <a:xfrm>
            <a:off x="818388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selected &amp; live-tested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5545EE-2E6D-39E0-8DCA-47CAD180943B}"/>
              </a:ext>
            </a:extLst>
          </p:cNvPr>
          <p:cNvSpPr txBox="1"/>
          <p:nvPr/>
        </p:nvSpPr>
        <p:spPr>
          <a:xfrm>
            <a:off x="502920" y="26974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pivoted from Staff QR Scan to the AI Travel Assistant Chatbot after deeper client discussion — then shipped a full sprint's evidence against the new direction:</a:t>
            </a:r>
            <a:endParaRPr lang="en-US" sz="13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7A8A81A-CE96-665F-DADD-09E1E75FFF3F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2391542-E388-8496-BF04-AED9806487D8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closed with a Done / Deliverable / Note-for-next-role handoff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open follow-ups blocking Sprint 2.</a:t>
            </a:r>
            <a:endParaRPr lang="en-US" sz="12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1E196FA-C193-8072-F3B7-85DFF28EE89B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4A150FC-1F29-9EE4-297E-35077C63C961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E1CCA58-FAAC-949C-0EE1-5046B5B4A0CF}"/>
              </a:ext>
            </a:extLst>
          </p:cNvPr>
          <p:cNvSpPr/>
          <p:nvPr/>
        </p:nvSpPr>
        <p:spPr>
          <a:xfrm>
            <a:off x="6217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654C3F6-20A1-6D14-5E2E-70D2D5F3BFCD}"/>
              </a:ext>
            </a:extLst>
          </p:cNvPr>
          <p:cNvSpPr txBox="1"/>
          <p:nvPr/>
        </p:nvSpPr>
        <p:spPr>
          <a:xfrm>
            <a:off x="6217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4E188030-48F3-0D16-4750-9ABB15B092C3}"/>
              </a:ext>
            </a:extLst>
          </p:cNvPr>
          <p:cNvSpPr txBox="1"/>
          <p:nvPr/>
        </p:nvSpPr>
        <p:spPr>
          <a:xfrm>
            <a:off x="6656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 + high-fi Figma prototype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flow incl. error &amp; empty states</a:t>
            </a:r>
            <a:endParaRPr lang="en-US" sz="125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5B31584B-D49E-57D4-9B9B-191A32F1B6C4}"/>
              </a:ext>
            </a:extLst>
          </p:cNvPr>
          <p:cNvSpPr/>
          <p:nvPr/>
        </p:nvSpPr>
        <p:spPr>
          <a:xfrm>
            <a:off x="502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E21AB28-BA5D-E073-6EEE-BF54C3214D1C}"/>
              </a:ext>
            </a:extLst>
          </p:cNvPr>
          <p:cNvSpPr txBox="1"/>
          <p:nvPr/>
        </p:nvSpPr>
        <p:spPr>
          <a:xfrm>
            <a:off x="502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DE7EAEFF-625F-D33B-DCA8-4F7AF8FCE842}"/>
              </a:ext>
            </a:extLst>
          </p:cNvPr>
          <p:cNvSpPr txBox="1"/>
          <p:nvPr/>
        </p:nvSpPr>
        <p:spPr>
          <a:xfrm>
            <a:off x="941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Flight-data API proof of concept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Airlabs — live-tested on real flight VJ82</a:t>
            </a:r>
            <a:endParaRPr lang="en-US" sz="12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004EF451-B915-38C0-6DCD-A964DBB78893}"/>
              </a:ext>
            </a:extLst>
          </p:cNvPr>
          <p:cNvSpPr/>
          <p:nvPr/>
        </p:nvSpPr>
        <p:spPr>
          <a:xfrm>
            <a:off x="6217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959A0DF1-D22E-9540-68AD-0792A9162E32}"/>
              </a:ext>
            </a:extLst>
          </p:cNvPr>
          <p:cNvSpPr txBox="1"/>
          <p:nvPr/>
        </p:nvSpPr>
        <p:spPr>
          <a:xfrm>
            <a:off x="6217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F402C697-4756-7A23-013B-3BC41E8E266C}"/>
              </a:ext>
            </a:extLst>
          </p:cNvPr>
          <p:cNvSpPr txBox="1"/>
          <p:nvPr/>
        </p:nvSpPr>
        <p:spPr>
          <a:xfrm>
            <a:off x="6656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Hotel/booking provider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StayingAPI selected, live-tested with real accessibility data</a:t>
            </a:r>
            <a:endParaRPr lang="en-US" sz="1250" dirty="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5D116ED5-3BB5-14F8-2AFA-9536F366632F}"/>
              </a:ext>
            </a:extLst>
          </p:cNvPr>
          <p:cNvSpPr/>
          <p:nvPr/>
        </p:nvSpPr>
        <p:spPr>
          <a:xfrm>
            <a:off x="502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5A14D256-DF8F-A140-3E49-18E0D3C183D2}"/>
              </a:ext>
            </a:extLst>
          </p:cNvPr>
          <p:cNvSpPr txBox="1"/>
          <p:nvPr/>
        </p:nvSpPr>
        <p:spPr>
          <a:xfrm>
            <a:off x="502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8334772C-210D-AF2E-59D6-DDACBAD1358E}"/>
              </a:ext>
            </a:extLst>
          </p:cNvPr>
          <p:cNvSpPr txBox="1"/>
          <p:nvPr/>
        </p:nvSpPr>
        <p:spPr>
          <a:xfrm>
            <a:off x="941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retrieval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logic to Groq/OpenAI documented</a:t>
            </a:r>
            <a:endParaRPr lang="en-US" sz="1250" dirty="0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4DDC2389-656D-1BA9-E75B-D85A767DC2B2}"/>
              </a:ext>
            </a:extLst>
          </p:cNvPr>
          <p:cNvSpPr/>
          <p:nvPr/>
        </p:nvSpPr>
        <p:spPr>
          <a:xfrm>
            <a:off x="6217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27BC0E6D-F7D2-F84C-CC3A-A2119713E6C7}"/>
              </a:ext>
            </a:extLst>
          </p:cNvPr>
          <p:cNvSpPr txBox="1"/>
          <p:nvPr/>
        </p:nvSpPr>
        <p:spPr>
          <a:xfrm>
            <a:off x="6217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C02C1F3B-1106-4B12-D11F-3DA93F0384C2}"/>
              </a:ext>
            </a:extLst>
          </p:cNvPr>
          <p:cNvSpPr txBox="1"/>
          <p:nvPr/>
        </p:nvSpPr>
        <p:spPr>
          <a:xfrm>
            <a:off x="6656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session (4 Sept)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formally signed off</a:t>
            </a:r>
            <a:endParaRPr lang="en-US" sz="125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7D97C42E-1648-F92F-75FF-0B478785D93E}"/>
              </a:ext>
            </a:extLst>
          </p:cNvPr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BC1D900D-4857-A5FD-BDFF-8CAA20E814B3}"/>
              </a:ext>
            </a:extLst>
          </p:cNvPr>
          <p:cNvSpPr txBox="1"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4F572041-CAF1-6A9D-08AB-CEC47AB164E8}"/>
              </a:ext>
            </a:extLst>
          </p:cNvPr>
          <p:cNvSpPr txBox="1"/>
          <p:nvPr/>
        </p:nvSpPr>
        <p:spPr>
          <a:xfrm>
            <a:off x="941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requirements doc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flight/destination → route, aircraft, accessibility match, hotel suggestion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4646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3953B-6A68-69DB-D59C-3475D09D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38C5A6-778A-180E-4793-273FA817A960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3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391B5D-EC28-B689-87E7-7D62E30D407B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Achievement — Week 2 Evidence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D968FB-EEE1-33A2-5628-57151E679CF6}"/>
              </a:ext>
            </a:extLst>
          </p:cNvPr>
          <p:cNvSpPr/>
          <p:nvPr/>
        </p:nvSpPr>
        <p:spPr>
          <a:xfrm>
            <a:off x="50292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BEE2D1-E27A-4174-4C16-562AFD0C1C12}"/>
              </a:ext>
            </a:extLst>
          </p:cNvPr>
          <p:cNvSpPr txBox="1"/>
          <p:nvPr/>
        </p:nvSpPr>
        <p:spPr>
          <a:xfrm>
            <a:off x="68580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4633DC-D09F-70DB-EEA4-6C3452CD026D}"/>
              </a:ext>
            </a:extLst>
          </p:cNvPr>
          <p:cNvSpPr txBox="1"/>
          <p:nvPr/>
        </p:nvSpPr>
        <p:spPr>
          <a:xfrm>
            <a:off x="68580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2 tasks completed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F5D006-E4CF-F54A-8A7D-BE4BB7CCD63B}"/>
              </a:ext>
            </a:extLst>
          </p:cNvPr>
          <p:cNvSpPr/>
          <p:nvPr/>
        </p:nvSpPr>
        <p:spPr>
          <a:xfrm>
            <a:off x="425196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AE746F-8B9D-7EBC-719C-CBDE833DAF8A}"/>
              </a:ext>
            </a:extLst>
          </p:cNvPr>
          <p:cNvSpPr txBox="1"/>
          <p:nvPr/>
        </p:nvSpPr>
        <p:spPr>
          <a:xfrm>
            <a:off x="443484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A4DB6F9-F22A-65CB-1DE9-F82B15A2973E}"/>
              </a:ext>
            </a:extLst>
          </p:cNvPr>
          <p:cNvSpPr txBox="1"/>
          <p:nvPr/>
        </p:nvSpPr>
        <p:spPr>
          <a:xfrm>
            <a:off x="443484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this week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BB7189F-931E-6F79-EEB1-13170ED9696F}"/>
              </a:ext>
            </a:extLst>
          </p:cNvPr>
          <p:cNvSpPr/>
          <p:nvPr/>
        </p:nvSpPr>
        <p:spPr>
          <a:xfrm>
            <a:off x="800100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6F9350D-4971-1B22-CB51-1CE432F20BA7}"/>
              </a:ext>
            </a:extLst>
          </p:cNvPr>
          <p:cNvSpPr txBox="1"/>
          <p:nvPr/>
        </p:nvSpPr>
        <p:spPr>
          <a:xfrm>
            <a:off x="818388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F1B256F-7AB8-29F6-8823-6CC8A00CFEBE}"/>
              </a:ext>
            </a:extLst>
          </p:cNvPr>
          <p:cNvSpPr txBox="1"/>
          <p:nvPr/>
        </p:nvSpPr>
        <p:spPr>
          <a:xfrm>
            <a:off x="818388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selected &amp; live-tested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23631E1-1AAA-D5FE-9D59-E1976FA1098F}"/>
              </a:ext>
            </a:extLst>
          </p:cNvPr>
          <p:cNvSpPr txBox="1"/>
          <p:nvPr/>
        </p:nvSpPr>
        <p:spPr>
          <a:xfrm>
            <a:off x="502920" y="26974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pivoted from Staff QR Scan to the AI Travel Assistant Chatbot after deeper client discussion — then shipped a full sprint's evidence against the new direction:</a:t>
            </a:r>
            <a:endParaRPr lang="en-US" sz="13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11183AB-C95E-B1D0-048A-99202D5A71E4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BC1DDAA-12F5-FC51-CE73-B4FA5C241776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closed with a Done / Deliverable / Note-for-next-role handoff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open follow-ups blocking Sprint 2.</a:t>
            </a:r>
            <a:endParaRPr lang="en-US" sz="12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4482354-39F2-CE07-2B76-A973350E80EB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09B350D-D9BB-B0FC-EEF6-58F137D1B6F8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04AC9BF-8897-D647-CBFE-FFACD2237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76" y="3836321"/>
            <a:ext cx="1705441" cy="185171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15C7598-BCDF-81F1-E6FA-BA16C8616E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453"/>
          <a:stretch>
            <a:fillRect/>
          </a:stretch>
        </p:blipFill>
        <p:spPr>
          <a:xfrm>
            <a:off x="3619431" y="3825815"/>
            <a:ext cx="1744288" cy="186357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E278FA4-0164-29E1-3D3B-5252E1B81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547" y="3824453"/>
            <a:ext cx="1904238" cy="186357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00885E0-94C1-F2D7-1179-6D64653CD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0786" y="3824454"/>
            <a:ext cx="1904238" cy="1862216"/>
          </a:xfrm>
          <a:prstGeom prst="rect">
            <a:avLst/>
          </a:prstGeom>
        </p:spPr>
      </p:pic>
      <p:sp>
        <p:nvSpPr>
          <p:cNvPr id="53" name="Text 17">
            <a:extLst>
              <a:ext uri="{FF2B5EF4-FFF2-40B4-BE49-F238E27FC236}">
                <a16:creationId xmlns:a16="http://schemas.microsoft.com/office/drawing/2014/main" id="{035F1BA5-6611-64BC-B661-A37B74C9105A}"/>
              </a:ext>
            </a:extLst>
          </p:cNvPr>
          <p:cNvSpPr txBox="1"/>
          <p:nvPr/>
        </p:nvSpPr>
        <p:spPr>
          <a:xfrm>
            <a:off x="6656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 + high-fi Figma prototype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flow incl. error &amp; empty states</a:t>
            </a:r>
            <a:endParaRPr lang="en-US" sz="1250" dirty="0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DA920909-0591-8701-CAAD-2C6975AF4A09}"/>
              </a:ext>
            </a:extLst>
          </p:cNvPr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FC2FBE12-5007-4327-F3ED-F57F636F7229}"/>
              </a:ext>
            </a:extLst>
          </p:cNvPr>
          <p:cNvSpPr txBox="1"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B4D00E06-A6B5-2594-868D-C7A67906E9C6}"/>
              </a:ext>
            </a:extLst>
          </p:cNvPr>
          <p:cNvSpPr txBox="1"/>
          <p:nvPr/>
        </p:nvSpPr>
        <p:spPr>
          <a:xfrm>
            <a:off x="941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requirements doc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flight/destination → route, aircraft, accessibility match, hotel suggestion</a:t>
            </a:r>
            <a:endParaRPr lang="en-US" sz="1250" dirty="0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FD437832-CDA7-054B-56DA-27B850121623}"/>
              </a:ext>
            </a:extLst>
          </p:cNvPr>
          <p:cNvSpPr/>
          <p:nvPr/>
        </p:nvSpPr>
        <p:spPr>
          <a:xfrm>
            <a:off x="6217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9572D736-7293-9B83-D44D-1C0160A9F9FA}"/>
              </a:ext>
            </a:extLst>
          </p:cNvPr>
          <p:cNvSpPr txBox="1"/>
          <p:nvPr/>
        </p:nvSpPr>
        <p:spPr>
          <a:xfrm>
            <a:off x="6217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84059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36E4-BC18-B8F3-8E15-03826606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8B6B62-BD6A-DDA8-4063-78871C41A793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3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7EA018-950F-57A4-1294-F1E09702D9CB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Achievement — Week 2 Evidence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CF6323-CF42-D31A-8851-009A16D32EDF}"/>
              </a:ext>
            </a:extLst>
          </p:cNvPr>
          <p:cNvSpPr/>
          <p:nvPr/>
        </p:nvSpPr>
        <p:spPr>
          <a:xfrm>
            <a:off x="50292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295AA5-3292-53BE-42C2-48F240EA6A7D}"/>
              </a:ext>
            </a:extLst>
          </p:cNvPr>
          <p:cNvSpPr txBox="1"/>
          <p:nvPr/>
        </p:nvSpPr>
        <p:spPr>
          <a:xfrm>
            <a:off x="68580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A5ABE6-36CE-A153-0D1E-B4C45F74FAFA}"/>
              </a:ext>
            </a:extLst>
          </p:cNvPr>
          <p:cNvSpPr txBox="1"/>
          <p:nvPr/>
        </p:nvSpPr>
        <p:spPr>
          <a:xfrm>
            <a:off x="68580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2 tasks completed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789B86C-B3F6-A6B3-17F4-8821663C3FBB}"/>
              </a:ext>
            </a:extLst>
          </p:cNvPr>
          <p:cNvSpPr/>
          <p:nvPr/>
        </p:nvSpPr>
        <p:spPr>
          <a:xfrm>
            <a:off x="425196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4E23B2-34C3-A556-0C88-7EE792128D18}"/>
              </a:ext>
            </a:extLst>
          </p:cNvPr>
          <p:cNvSpPr txBox="1"/>
          <p:nvPr/>
        </p:nvSpPr>
        <p:spPr>
          <a:xfrm>
            <a:off x="443484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EC58AEF-146D-43F2-96CE-9E13CCB0841F}"/>
              </a:ext>
            </a:extLst>
          </p:cNvPr>
          <p:cNvSpPr txBox="1"/>
          <p:nvPr/>
        </p:nvSpPr>
        <p:spPr>
          <a:xfrm>
            <a:off x="443484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this week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BF79C59-7A84-A248-2F12-B16F468675B6}"/>
              </a:ext>
            </a:extLst>
          </p:cNvPr>
          <p:cNvSpPr/>
          <p:nvPr/>
        </p:nvSpPr>
        <p:spPr>
          <a:xfrm>
            <a:off x="800100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E6F0634-9306-1E39-76C2-ACC863D76FEA}"/>
              </a:ext>
            </a:extLst>
          </p:cNvPr>
          <p:cNvSpPr txBox="1"/>
          <p:nvPr/>
        </p:nvSpPr>
        <p:spPr>
          <a:xfrm>
            <a:off x="818388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F7EFB14-E2F7-E372-792B-BD2BE368D62C}"/>
              </a:ext>
            </a:extLst>
          </p:cNvPr>
          <p:cNvSpPr txBox="1"/>
          <p:nvPr/>
        </p:nvSpPr>
        <p:spPr>
          <a:xfrm>
            <a:off x="818388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selected &amp; live-tested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EC3C1A-FA4E-A4FB-2A9E-31312D3F9FAF}"/>
              </a:ext>
            </a:extLst>
          </p:cNvPr>
          <p:cNvSpPr txBox="1"/>
          <p:nvPr/>
        </p:nvSpPr>
        <p:spPr>
          <a:xfrm>
            <a:off x="502920" y="26974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pivoted from Staff QR Scan to the AI Travel Assistant Chatbot after deeper client discussion — then shipped a full sprint's evidence against the new direction:</a:t>
            </a:r>
            <a:endParaRPr lang="en-US" sz="13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3A4B0BC-6A6E-2F91-311A-5BAA8A8CF828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9C08FB3-3801-5912-76CA-D0398A5FA5FE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closed with a Done / Deliverable / Note-for-next-role handoff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open follow-ups blocking Sprint 2.</a:t>
            </a:r>
            <a:endParaRPr lang="en-US" sz="12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3940A1D-BFFD-94A2-F41A-99843FDBB897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C19900C-60FE-6D76-5599-EEF2BD52C627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B922C18-CFF3-A26D-71D9-6A97F239E56C}"/>
              </a:ext>
            </a:extLst>
          </p:cNvPr>
          <p:cNvSpPr/>
          <p:nvPr/>
        </p:nvSpPr>
        <p:spPr>
          <a:xfrm>
            <a:off x="6217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359942B9-D4ED-3579-A175-23DD117B1B9C}"/>
              </a:ext>
            </a:extLst>
          </p:cNvPr>
          <p:cNvSpPr txBox="1"/>
          <p:nvPr/>
        </p:nvSpPr>
        <p:spPr>
          <a:xfrm>
            <a:off x="6217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6795586-D422-4369-4C9E-D2124E0E9219}"/>
              </a:ext>
            </a:extLst>
          </p:cNvPr>
          <p:cNvSpPr txBox="1"/>
          <p:nvPr/>
        </p:nvSpPr>
        <p:spPr>
          <a:xfrm>
            <a:off x="6656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 + high-fi Figma prototype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flow incl. error &amp; empty states</a:t>
            </a:r>
            <a:endParaRPr lang="en-US" sz="125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C4906B15-1B23-35E9-53CA-D5A8CF4B4385}"/>
              </a:ext>
            </a:extLst>
          </p:cNvPr>
          <p:cNvSpPr/>
          <p:nvPr/>
        </p:nvSpPr>
        <p:spPr>
          <a:xfrm>
            <a:off x="502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7B562753-F73E-5F66-B29B-45ADB07E3D4A}"/>
              </a:ext>
            </a:extLst>
          </p:cNvPr>
          <p:cNvSpPr txBox="1"/>
          <p:nvPr/>
        </p:nvSpPr>
        <p:spPr>
          <a:xfrm>
            <a:off x="502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28041A6E-5C58-9A9F-9432-389F8536F66E}"/>
              </a:ext>
            </a:extLst>
          </p:cNvPr>
          <p:cNvSpPr txBox="1"/>
          <p:nvPr/>
        </p:nvSpPr>
        <p:spPr>
          <a:xfrm>
            <a:off x="941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Flight-data API proof of concept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Airlabs — live-tested on real flight VJ82</a:t>
            </a:r>
            <a:endParaRPr lang="en-US" sz="12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BDF92934-E886-FF0D-6335-D44D8E26B302}"/>
              </a:ext>
            </a:extLst>
          </p:cNvPr>
          <p:cNvSpPr/>
          <p:nvPr/>
        </p:nvSpPr>
        <p:spPr>
          <a:xfrm>
            <a:off x="6217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6542F128-1735-0474-1EEF-B32C00966424}"/>
              </a:ext>
            </a:extLst>
          </p:cNvPr>
          <p:cNvSpPr txBox="1"/>
          <p:nvPr/>
        </p:nvSpPr>
        <p:spPr>
          <a:xfrm>
            <a:off x="6217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AE1998C7-96E1-8BA4-7ECB-3129A0DD3FFA}"/>
              </a:ext>
            </a:extLst>
          </p:cNvPr>
          <p:cNvSpPr txBox="1"/>
          <p:nvPr/>
        </p:nvSpPr>
        <p:spPr>
          <a:xfrm>
            <a:off x="6656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Hotel/booking provider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StayingAPI selected, live-tested with real accessibility data</a:t>
            </a:r>
            <a:endParaRPr lang="en-US" sz="1250" dirty="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761FF7AD-DF06-AE8E-763B-552E403288AC}"/>
              </a:ext>
            </a:extLst>
          </p:cNvPr>
          <p:cNvSpPr/>
          <p:nvPr/>
        </p:nvSpPr>
        <p:spPr>
          <a:xfrm>
            <a:off x="502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ABAD2122-0BB1-0F7A-CE56-0C27366C4B7E}"/>
              </a:ext>
            </a:extLst>
          </p:cNvPr>
          <p:cNvSpPr txBox="1"/>
          <p:nvPr/>
        </p:nvSpPr>
        <p:spPr>
          <a:xfrm>
            <a:off x="502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415AF09B-3532-03A4-81B7-58F305E93E79}"/>
              </a:ext>
            </a:extLst>
          </p:cNvPr>
          <p:cNvSpPr txBox="1"/>
          <p:nvPr/>
        </p:nvSpPr>
        <p:spPr>
          <a:xfrm>
            <a:off x="941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retrieval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logic to Groq/OpenAI documented</a:t>
            </a:r>
            <a:endParaRPr lang="en-US" sz="1250" dirty="0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0F33CD9B-07D0-3EAF-1EBA-89DDFED6AE52}"/>
              </a:ext>
            </a:extLst>
          </p:cNvPr>
          <p:cNvSpPr/>
          <p:nvPr/>
        </p:nvSpPr>
        <p:spPr>
          <a:xfrm>
            <a:off x="6217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B4E56B62-8815-0F94-E9C8-ABA3EE36D32F}"/>
              </a:ext>
            </a:extLst>
          </p:cNvPr>
          <p:cNvSpPr txBox="1"/>
          <p:nvPr/>
        </p:nvSpPr>
        <p:spPr>
          <a:xfrm>
            <a:off x="6217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441AE489-65ED-059D-AF99-15C32A95DA3D}"/>
              </a:ext>
            </a:extLst>
          </p:cNvPr>
          <p:cNvSpPr txBox="1"/>
          <p:nvPr/>
        </p:nvSpPr>
        <p:spPr>
          <a:xfrm>
            <a:off x="6656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session (4 Sept)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formally signed off</a:t>
            </a:r>
            <a:endParaRPr lang="en-US" sz="125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EF09321A-992A-9D3C-45E7-B8DEBBB5C19C}"/>
              </a:ext>
            </a:extLst>
          </p:cNvPr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CB185AD5-A570-6A58-1919-65AF257A068C}"/>
              </a:ext>
            </a:extLst>
          </p:cNvPr>
          <p:cNvSpPr txBox="1"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58D564DA-809D-674F-78FC-D8725B8FA9A8}"/>
              </a:ext>
            </a:extLst>
          </p:cNvPr>
          <p:cNvSpPr txBox="1"/>
          <p:nvPr/>
        </p:nvSpPr>
        <p:spPr>
          <a:xfrm>
            <a:off x="941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requirements doc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flight/destination → route, aircraft, accessibility match, hotel suggestion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338908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4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traveler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aircraft and accessibility-vetted hotels, from one search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hours of research across separate sites</a:t>
            </a:r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452628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client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 staff-only feature with one their users feel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assistant spanning flight, aircraft, and destination accessibility</a:t>
            </a:r>
          </a:p>
        </p:txBody>
      </p:sp>
      <p:sp>
        <p:nvSpPr>
          <p:cNvPr id="10" name="Shape 8"/>
          <p:cNvSpPr/>
          <p:nvPr/>
        </p:nvSpPr>
        <p:spPr>
          <a:xfrm>
            <a:off x="8001000" y="16002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827532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project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YAF's chatbot from static Q&amp;A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flights, routes, accessibility and hotels.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4709160"/>
            <a:ext cx="111858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77240" y="500634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777240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709160"/>
            <a:ext cx="99971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sign-off secured.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 September the client confirmed the pivot and the Sprint 2 integration scope: one flight-data source, one hotel/accessibility system, one excursion example and one transfer example.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31" name="Picture 30" descr="Chatbot Icon SVG Vector &amp; PNG Free Download | UXWing">
            <a:extLst>
              <a:ext uri="{FF2B5EF4-FFF2-40B4-BE49-F238E27FC236}">
                <a16:creationId xmlns:a16="http://schemas.microsoft.com/office/drawing/2014/main" id="{D74666F7-D43D-E7AE-B311-431A6B18D2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64238" y="3594354"/>
            <a:ext cx="720042" cy="703326"/>
          </a:xfrm>
          <a:prstGeom prst="rect">
            <a:avLst/>
          </a:prstGeom>
        </p:spPr>
      </p:pic>
      <p:pic>
        <p:nvPicPr>
          <p:cNvPr id="32" name="Picture 31" descr="Drawing Airplane Logo - Airplane Clipart Transparent Background (875x875), Png Download">
            <a:extLst>
              <a:ext uri="{FF2B5EF4-FFF2-40B4-BE49-F238E27FC236}">
                <a16:creationId xmlns:a16="http://schemas.microsoft.com/office/drawing/2014/main" id="{8BD9DDF6-818D-33DE-A5C9-B33C99AE6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41663" y="3456729"/>
            <a:ext cx="1078397" cy="1078397"/>
          </a:xfrm>
          <a:prstGeom prst="rect">
            <a:avLst/>
          </a:prstGeom>
        </p:spPr>
      </p:pic>
      <p:pic>
        <p:nvPicPr>
          <p:cNvPr id="34" name="Picture 33" descr="Handicap Wheelchair Icon SVG Vector &amp; PNG Free Download | UXWing">
            <a:extLst>
              <a:ext uri="{FF2B5EF4-FFF2-40B4-BE49-F238E27FC236}">
                <a16:creationId xmlns:a16="http://schemas.microsoft.com/office/drawing/2014/main" id="{0733A8AD-46BA-8342-2126-8FE7769791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64898" y="3554731"/>
            <a:ext cx="578507" cy="742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5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&amp; Open Questions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account of what's unresolved heading into Sprint 2 — and our plan for 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31520" y="2121408"/>
            <a:ext cx="365760" cy="365760"/>
          </a:xfrm>
          <a:prstGeom prst="ellipse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315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93976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API quota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Flight-data free tier is 600 units/month, 1 req/sec, shared across the whole team — could constrain live testing close to demos.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93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usage during dev; ration test calls ahead of Sprint 2 demo.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6446520" y="2121408"/>
            <a:ext cx="365760" cy="365760"/>
          </a:xfrm>
          <a:prstGeom prst="ellipse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64465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093976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Trip/session data model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whether an existing YAF trip/session model exists to attach external services to, or whether this project defines one.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493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to client; confirm before Sprint 2 build starts.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224528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31520" y="4425696"/>
            <a:ext cx="365760" cy="365760"/>
          </a:xfrm>
          <a:prstGeom prst="ellipse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7315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39826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provider narrowing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910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 hotel/booking sources compared, only the “booking” platform proved reliable — airbnb, vrbo and google were unreliable or unavailable.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7972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booking-only source for Sprint 2; revisit if coverage gaps appear.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224528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6446520" y="4425696"/>
            <a:ext cx="365760" cy="365760"/>
          </a:xfrm>
          <a:prstGeom prst="ellipse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 txBox="1"/>
          <p:nvPr/>
        </p:nvSpPr>
        <p:spPr>
          <a:xfrm>
            <a:off x="64465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39826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AI model for the chatbot?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910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supports multiple embedding/generation models — the client hasn't settled on which one to standardize on for retrieval and response quality.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7972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the top 2 candidates against sample queries; confirm choice with client before Sprint 2 build.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6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Allocation &amp; Time Spent — Week 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logged Planner records for Sprint 1 Week 1 — 5 tasks, one per member, each closed with a Done / Deliverable handoff.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60336"/>
              </p:ext>
            </p:extLst>
          </p:nvPr>
        </p:nvGraphicFramePr>
        <p:xfrm>
          <a:off x="502920" y="1965960"/>
          <a:ext cx="10424160" cy="32918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this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Francisco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status update &amp; follow-up agenda after second client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 Bin Liang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Drafted initial requirements for the Staff QR Scan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Lim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Wireframed the QR scan flow (scan, results &amp; error states)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Khanh Nguyen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Stood up the Firebase web server &amp;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Aindrila Das Prapti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Researched wheelchair/aircraft-door compatibility standards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4"/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hours across 5 members  •  5/5 tasks Done  •  one task per member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AEC4E-54FE-7B55-C412-09552586C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73283D-8384-0E3A-79B1-C3EF7FEAC0E1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6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E99885-9172-7333-35EF-C488FE8D40C9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Allocation &amp; Time Spent — Week 2 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BA502D-D062-B7BD-D9B0-C3534A5380BF}"/>
              </a:ext>
            </a:extLst>
          </p:cNvPr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logged Planner records for Sprint 1 Week 2 — 9 tasks, every role cleared its hours on a completed task.</a:t>
            </a:r>
            <a:endParaRPr lang="en-US" sz="135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DB5B6B21-31E2-EC15-387B-6723CB8B9B12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965960"/>
          <a:ext cx="10424160" cy="32918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this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Francisco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requirements doc; coordinated client review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 Bin Liang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Flight-data &amp; hotel provider research; acceptance criteria doc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Lim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Low-fidelity wireframes; high-fidelity Figma prototype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Khanh Nguyen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Tech-stack &amp; schema review; flight-data API proof of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Aindrila Das Prapti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 retrieval &amp; fallback-logic research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B8AC485D-B66A-1F97-7734-C2BC87F4819C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DE03C81-8A02-0E10-2EB8-F4CD05A26A57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hours logged across 5 members  •  9/9 tasks Done  •  workload evenly distributed at 4h each</a:t>
            </a:r>
            <a:endParaRPr lang="en-US" sz="12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854665A-B927-0625-4CD2-0AC889437924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633FD4F-BD1E-5A03-DCCB-6CC14D5AF243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162234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5FE8A-38A6-1CB9-3363-8ED424D4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D57364-37C4-0BFD-BFEA-5C20FC68F844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6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A99495-D470-360D-8AEE-FCC42A5A9F44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Allocation &amp; Time Spent — Week 3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4070D8-F9A7-15C5-47E5-422E39430ADE}"/>
              </a:ext>
            </a:extLst>
          </p:cNvPr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current Planner board </a:t>
            </a: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3 — 5 tasks assigned for Week 3, one per member, budgeted at 4h each.</a:t>
            </a:r>
            <a:endParaRPr lang="en-US" sz="135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070E80F1-F843-9CE0-D52E-4917C3AFD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820231"/>
              </p:ext>
            </p:extLst>
          </p:nvPr>
        </p:nvGraphicFramePr>
        <p:xfrm>
          <a:off x="502920" y="1965960"/>
          <a:ext cx="10424160" cy="32918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Francisco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 Sprint 1 deliverables &amp; run Sprint 1 playback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 Bin Liang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Stress-test data schema against edge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Lim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 prototype based on client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Khanh Nguyen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 infrastructure for Sprint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Aindrila Das Prapti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Hotel/booking API integration proof of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5C6C87D8-37FA-C969-AC75-79476F19192B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5595287-4BBA-A560-2DBC-41BEB33E564F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hours budgeted across 5 members • In-progress</a:t>
            </a:r>
            <a:endParaRPr lang="en-US" sz="12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B22839D-835E-AFE7-4DF6-D51759C3BCB8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E654C3B-C74E-AE62-996E-783F1728C881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308238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7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Next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2084832"/>
            <a:ext cx="0" cy="1234440"/>
          </a:xfrm>
          <a:prstGeom prst="line">
            <a:avLst/>
          </a:prstGeom>
          <a:noFill/>
          <a:ln w="254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9576" y="1920240"/>
            <a:ext cx="292608" cy="29260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17957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8745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1945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with client; initial requirements drafted for Staff QR Scan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3319272"/>
            <a:ext cx="0" cy="1234440"/>
          </a:xfrm>
          <a:prstGeom prst="line">
            <a:avLst/>
          </a:prstGeom>
          <a:noFill/>
          <a:ln w="254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1179576" y="3154680"/>
            <a:ext cx="292608" cy="29260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 txBox="1"/>
          <p:nvPr/>
        </p:nvSpPr>
        <p:spPr>
          <a:xfrm>
            <a:off x="1179576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1089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Sept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4290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session — pivot to AI Travel Assistant Chatbot confirmed &amp; signed off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25880" y="4553712"/>
            <a:ext cx="0" cy="0"/>
          </a:xfrm>
          <a:prstGeom prst="line">
            <a:avLst/>
          </a:prstGeom>
          <a:noFill/>
          <a:ln w="254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1179576" y="4389120"/>
            <a:ext cx="292608" cy="29260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 txBox="1"/>
          <p:nvPr/>
        </p:nvSpPr>
        <p:spPr>
          <a:xfrm>
            <a:off x="1179576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3434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6634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Flight-data &amp; hotel APIs selected and proof-of-concept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6235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 txBox="1"/>
          <p:nvPr/>
        </p:nvSpPr>
        <p:spPr>
          <a:xfrm>
            <a:off x="731520" y="56235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close: </a:t>
            </a: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signed off, prototype validated, Sprint 2 scope confirmed with the client.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146304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 txBox="1"/>
          <p:nvPr/>
        </p:nvSpPr>
        <p:spPr>
          <a:xfrm>
            <a:off x="6583680" y="1691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— SPRINT 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2148840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 txBox="1"/>
          <p:nvPr/>
        </p:nvSpPr>
        <p:spPr>
          <a:xfrm>
            <a:off x="658368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07568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flight-lookup → aircraft-compatibility → hotel-suggestion flow end-to-end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3044952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 txBox="1"/>
          <p:nvPr/>
        </p:nvSpPr>
        <p:spPr>
          <a:xfrm>
            <a:off x="658368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29718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Pinecone retrieval with Groq/OpenAI fallback (&gt;10s or no answer)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3941064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 txBox="1"/>
          <p:nvPr/>
        </p:nvSpPr>
        <p:spPr>
          <a:xfrm>
            <a:off x="658368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86791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the build against the 18-point acceptance criteria document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0" y="4837176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 txBox="1"/>
          <p:nvPr/>
        </p:nvSpPr>
        <p:spPr>
          <a:xfrm>
            <a:off x="6583680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4764024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open items: trip/session data model, hotel provider confirmation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2088</Words>
  <Application>Microsoft Office PowerPoint</Application>
  <PresentationFormat>Widescreen</PresentationFormat>
  <Paragraphs>299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 Francisco</cp:lastModifiedBy>
  <cp:revision>15</cp:revision>
  <dcterms:created xsi:type="dcterms:W3CDTF">2026-09-07T14:53:51Z</dcterms:created>
  <dcterms:modified xsi:type="dcterms:W3CDTF">2026-09-12T16:17:02Z</dcterms:modified>
</cp:coreProperties>
</file>