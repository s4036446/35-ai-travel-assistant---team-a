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67" r:id="rId2"/>
    <p:sldId id="256" r:id="rId3"/>
    <p:sldId id="257" r:id="rId4"/>
    <p:sldId id="263" r:id="rId5"/>
    <p:sldId id="266" r:id="rId6"/>
    <p:sldId id="285" r:id="rId7"/>
    <p:sldId id="271" r:id="rId8"/>
    <p:sldId id="284" r:id="rId9"/>
    <p:sldId id="259" r:id="rId10"/>
    <p:sldId id="260" r:id="rId11"/>
    <p:sldId id="261" r:id="rId12"/>
    <p:sldId id="264" r:id="rId13"/>
    <p:sldId id="265" r:id="rId14"/>
    <p:sldId id="262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786" autoAdjust="0"/>
    <p:restoredTop sz="94610"/>
  </p:normalViewPr>
  <p:slideViewPr>
    <p:cSldViewPr snapToGrid="0" snapToObjects="1">
      <p:cViewPr>
        <p:scale>
          <a:sx n="118" d="100"/>
          <a:sy n="118" d="100"/>
        </p:scale>
        <p:origin x="324" y="-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873511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63B059-E4BA-FAAA-CED8-0C0A063DC5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F6F9534-EBEF-3112-5B03-B29EA826DE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5812B76-BCCC-3895-3345-A483705B14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9FA163-961C-C368-05EA-997B1B44BB6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24465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640DF4-A03C-6EDF-28D4-C5DF7F9159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252411B-6ECB-B267-50E1-D04C201E9E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9493760-6F77-EDEB-FBEC-E607226EF3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6F955A-B85D-DDEA-0B58-18D423F0E74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625161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A86681-EEDB-BD60-3D72-097E0495C4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4FCE598-37F3-86AD-BCAA-7072CBC888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2888091-2280-0AFC-BFB0-5E4AEB3AED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9E6506-89AA-A610-2991-B5ADE0623AA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568520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91769A-08A6-117F-F156-099AB4AFC6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CBC83C4-B7B2-395F-2D87-E90AA43505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7B2F8BA-2429-C698-4D08-4A1FB9FF31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3228EF-07C6-2C29-4479-A8F88D6CE96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73700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C263C7-7C74-EE5C-1325-2EA27923E6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12493C7-B5CF-F05A-92EC-E5E9A41EC9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05EF62D-545F-A693-D931-4D1E64FFB5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870714-DF67-C662-6F8B-FE45200AD1B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263599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9480E2-01A0-EF13-6FE6-2B3D267E03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D2FBBD2-B283-46FD-ECF4-D92132E23E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1387CC6-3660-716D-4E65-EF11FED763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D8656E-8819-F804-747A-5E2BEBAF8EB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00109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6036D2-00F9-6932-CD1B-D93853F95D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BB1561E-F288-6B64-C312-7AAF539F64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4B5A9C5-42DC-A2B6-FEF3-7CED9E0D30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131AF5-610D-7276-1B57-CD93EAF1129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239919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hape 2">
            <a:extLst>
              <a:ext uri="{FF2B5EF4-FFF2-40B4-BE49-F238E27FC236}">
                <a16:creationId xmlns:a16="http://schemas.microsoft.com/office/drawing/2014/main" id="{8458EB76-4ACD-2ADA-0578-1CD0E87A194D}"/>
              </a:ext>
            </a:extLst>
          </p:cNvPr>
          <p:cNvSpPr/>
          <p:nvPr/>
        </p:nvSpPr>
        <p:spPr>
          <a:xfrm>
            <a:off x="129395" y="133709"/>
            <a:ext cx="11947586" cy="6586268"/>
          </a:xfrm>
          <a:prstGeom prst="roundRect">
            <a:avLst>
              <a:gd name="adj" fmla="val 2857"/>
            </a:avLst>
          </a:prstGeom>
          <a:solidFill>
            <a:srgbClr val="0B3D5C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7" name="Shape 13">
            <a:extLst>
              <a:ext uri="{FF2B5EF4-FFF2-40B4-BE49-F238E27FC236}">
                <a16:creationId xmlns:a16="http://schemas.microsoft.com/office/drawing/2014/main" id="{94D404E1-687A-EF78-24F9-F8FCE4091C78}"/>
              </a:ext>
            </a:extLst>
          </p:cNvPr>
          <p:cNvSpPr/>
          <p:nvPr/>
        </p:nvSpPr>
        <p:spPr>
          <a:xfrm>
            <a:off x="2736011" y="2281686"/>
            <a:ext cx="6719977" cy="2294627"/>
          </a:xfrm>
          <a:prstGeom prst="roundRect">
            <a:avLst>
              <a:gd name="adj" fmla="val 10667"/>
            </a:avLst>
          </a:prstGeom>
          <a:solidFill>
            <a:srgbClr val="F2A65A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1" name="Text 14">
            <a:extLst>
              <a:ext uri="{FF2B5EF4-FFF2-40B4-BE49-F238E27FC236}">
                <a16:creationId xmlns:a16="http://schemas.microsoft.com/office/drawing/2014/main" id="{09CEB1BF-7604-EEDD-70A0-B57E7A8BC49D}"/>
              </a:ext>
            </a:extLst>
          </p:cNvPr>
          <p:cNvSpPr txBox="1"/>
          <p:nvPr/>
        </p:nvSpPr>
        <p:spPr>
          <a:xfrm>
            <a:off x="2743200" y="3083943"/>
            <a:ext cx="67199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YAF AI Travel Assistant Chatbot</a:t>
            </a:r>
            <a:endParaRPr lang="en-US" sz="3000" dirty="0"/>
          </a:p>
        </p:txBody>
      </p:sp>
    </p:spTree>
    <p:extLst>
      <p:ext uri="{BB962C8B-B14F-4D97-AF65-F5344CB8AC3E}">
        <p14:creationId xmlns:p14="http://schemas.microsoft.com/office/powerpoint/2010/main" val="75199337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2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1 PLAYBACK  ·  SLIDE 1 OF 7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111858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Overview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818120" y="1508760"/>
            <a:ext cx="3840480" cy="4572000"/>
          </a:xfrm>
          <a:prstGeom prst="roundRect">
            <a:avLst>
              <a:gd name="adj" fmla="val 2857"/>
            </a:avLst>
          </a:prstGeom>
          <a:solidFill>
            <a:srgbClr val="0B3D5C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5" name="Text 3"/>
          <p:cNvSpPr txBox="1"/>
          <p:nvPr/>
        </p:nvSpPr>
        <p:spPr>
          <a:xfrm>
            <a:off x="8138160" y="18288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TODAY, A TRAVELER JUGGLES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138160" y="2286000"/>
            <a:ext cx="3200400" cy="420624"/>
          </a:xfrm>
          <a:prstGeom prst="roundRect">
            <a:avLst>
              <a:gd name="adj" fmla="val 13043"/>
            </a:avLst>
          </a:prstGeom>
          <a:solidFill>
            <a:srgbClr val="16577A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7" name="Text 5"/>
          <p:cNvSpPr txBox="1"/>
          <p:nvPr/>
        </p:nvSpPr>
        <p:spPr>
          <a:xfrm>
            <a:off x="8321040" y="2286000"/>
            <a:ext cx="2834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Flight booking site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138160" y="2852928"/>
            <a:ext cx="3200400" cy="420624"/>
          </a:xfrm>
          <a:prstGeom prst="roundRect">
            <a:avLst>
              <a:gd name="adj" fmla="val 13043"/>
            </a:avLst>
          </a:prstGeom>
          <a:solidFill>
            <a:srgbClr val="16577A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9" name="Text 7"/>
          <p:cNvSpPr txBox="1"/>
          <p:nvPr/>
        </p:nvSpPr>
        <p:spPr>
          <a:xfrm>
            <a:off x="8321040" y="2852928"/>
            <a:ext cx="2834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Airline accessibility desk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138160" y="3419856"/>
            <a:ext cx="3200400" cy="420624"/>
          </a:xfrm>
          <a:prstGeom prst="roundRect">
            <a:avLst>
              <a:gd name="adj" fmla="val 13043"/>
            </a:avLst>
          </a:prstGeom>
          <a:solidFill>
            <a:srgbClr val="16577A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1" name="Text 9"/>
          <p:cNvSpPr txBox="1"/>
          <p:nvPr/>
        </p:nvSpPr>
        <p:spPr>
          <a:xfrm>
            <a:off x="8321040" y="3419856"/>
            <a:ext cx="2834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Hotel accessibility reviews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138160" y="3986784"/>
            <a:ext cx="3200400" cy="420624"/>
          </a:xfrm>
          <a:prstGeom prst="roundRect">
            <a:avLst>
              <a:gd name="adj" fmla="val 13043"/>
            </a:avLst>
          </a:prstGeom>
          <a:solidFill>
            <a:srgbClr val="16577A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3" name="Text 11"/>
          <p:cNvSpPr txBox="1"/>
          <p:nvPr/>
        </p:nvSpPr>
        <p:spPr>
          <a:xfrm>
            <a:off x="8321040" y="3986784"/>
            <a:ext cx="2834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/ rental services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8138160" y="47091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 ONE ACCESSIBILITY-AWARE ASSISTANT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138160" y="5074920"/>
            <a:ext cx="3200400" cy="685800"/>
          </a:xfrm>
          <a:prstGeom prst="roundRect">
            <a:avLst>
              <a:gd name="adj" fmla="val 10667"/>
            </a:avLst>
          </a:prstGeom>
          <a:solidFill>
            <a:srgbClr val="F2A65A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6" name="Text 14"/>
          <p:cNvSpPr txBox="1"/>
          <p:nvPr/>
        </p:nvSpPr>
        <p:spPr>
          <a:xfrm>
            <a:off x="8138160" y="507492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YAF AI Travel Assistant Chatbot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502920" y="1600200"/>
            <a:ext cx="6903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AU" sz="1600" dirty="0"/>
              <a:t>Flights, hotels, transfers, accessibility checks — travellers with disabilities have to manage it all across separate platforms, with nothing built to bring it together.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502920" y="2971800"/>
            <a:ext cx="6903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YAF ALREADY HAS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02920" y="3310128"/>
            <a:ext cx="292608" cy="292608"/>
          </a:xfrm>
          <a:prstGeom prst="ellipse">
            <a:avLst/>
          </a:prstGeom>
          <a:solidFill>
            <a:srgbClr val="2E7D5B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20" name="Text 18"/>
          <p:cNvSpPr txBox="1"/>
          <p:nvPr/>
        </p:nvSpPr>
        <p:spPr>
          <a:xfrm>
            <a:off x="502920" y="33101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941832" y="3273552"/>
            <a:ext cx="6446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Passenger app with wheelchair / mobility-equipment profiles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502920" y="3767328"/>
            <a:ext cx="292608" cy="292608"/>
          </a:xfrm>
          <a:prstGeom prst="ellipse">
            <a:avLst/>
          </a:prstGeom>
          <a:solidFill>
            <a:srgbClr val="2E7D5B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23" name="Text 21"/>
          <p:cNvSpPr txBox="1"/>
          <p:nvPr/>
        </p:nvSpPr>
        <p:spPr>
          <a:xfrm>
            <a:off x="502920" y="37673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941832" y="3730752"/>
            <a:ext cx="6446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Airline-specific wheelchair &amp; battery verification, QR sharing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502920" y="4224528"/>
            <a:ext cx="292608" cy="292608"/>
          </a:xfrm>
          <a:prstGeom prst="ellipse">
            <a:avLst/>
          </a:prstGeom>
          <a:solidFill>
            <a:srgbClr val="2E7D5B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26" name="Text 24"/>
          <p:cNvSpPr txBox="1"/>
          <p:nvPr/>
        </p:nvSpPr>
        <p:spPr>
          <a:xfrm>
            <a:off x="502920" y="42245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941832" y="4187952"/>
            <a:ext cx="6446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 Assistant </a:t>
            </a:r>
            <a:r>
              <a:rPr lang="en-AU" sz="1400" dirty="0"/>
              <a:t>Chatbot</a:t>
            </a: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plus internal aviation &amp; accessibility data</a:t>
            </a:r>
            <a:endParaRPr lang="en-US" sz="1350" dirty="0"/>
          </a:p>
        </p:txBody>
      </p:sp>
      <p:sp>
        <p:nvSpPr>
          <p:cNvPr id="28" name="Text 26"/>
          <p:cNvSpPr txBox="1"/>
          <p:nvPr/>
        </p:nvSpPr>
        <p:spPr>
          <a:xfrm>
            <a:off x="502920" y="4892040"/>
            <a:ext cx="6903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IT'S FOR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02920" y="5212080"/>
            <a:ext cx="324612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DCE4EA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0" name="Text 28"/>
          <p:cNvSpPr txBox="1"/>
          <p:nvPr/>
        </p:nvSpPr>
        <p:spPr>
          <a:xfrm>
            <a:off x="685800" y="5212080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 </a:t>
            </a: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Travelers with disabilities &amp; companions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3977640" y="5212080"/>
            <a:ext cx="324612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DCE4EA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2" name="Text 30"/>
          <p:cNvSpPr txBox="1"/>
          <p:nvPr/>
        </p:nvSpPr>
        <p:spPr>
          <a:xfrm>
            <a:off x="4160520" y="5212080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  </a:t>
            </a: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Airport, airline &amp; ground-handling staff</a:t>
            </a:r>
            <a:endParaRPr lang="en-US" sz="1250" dirty="0"/>
          </a:p>
        </p:txBody>
      </p:sp>
      <p:sp>
        <p:nvSpPr>
          <p:cNvPr id="33" name="Text 31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35 | A  —  AI Travel Assistant Chatbot for Your Accessible Flight (YAF)</a:t>
            </a:r>
            <a:endParaRPr lang="en-US" sz="950" dirty="0"/>
          </a:p>
        </p:txBody>
      </p:sp>
      <p:sp>
        <p:nvSpPr>
          <p:cNvPr id="34" name="Text 32"/>
          <p:cNvSpPr txBox="1"/>
          <p:nvPr/>
        </p:nvSpPr>
        <p:spPr>
          <a:xfrm>
            <a:off x="1132301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5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2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1 PLAYBACK  ·  SLIDE 2 OF 7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111858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Original Plan — Week 1 Commitment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4173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set in the client proposal and Sprint 1 plan, before this week's work began.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965960"/>
            <a:ext cx="3520440" cy="1417320"/>
          </a:xfrm>
          <a:prstGeom prst="roundRect">
            <a:avLst>
              <a:gd name="adj" fmla="val 6452"/>
            </a:avLst>
          </a:prstGeom>
          <a:solidFill>
            <a:srgbClr val="0B3D5C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6" name="Text 4"/>
          <p:cNvSpPr txBox="1"/>
          <p:nvPr/>
        </p:nvSpPr>
        <p:spPr>
          <a:xfrm>
            <a:off x="731520" y="210312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2A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 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441448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initial requirements &amp; low-fidelity wireframes for a candidate Sprint 2 feature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502920" y="37033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8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1 BASELINE FEATURE (from the original client proposal)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02920" y="4023360"/>
            <a:ext cx="11185855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CE4EA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6" name="Shape 14"/>
          <p:cNvSpPr/>
          <p:nvPr/>
        </p:nvSpPr>
        <p:spPr>
          <a:xfrm>
            <a:off x="777240" y="4251960"/>
            <a:ext cx="3200400" cy="1234440"/>
          </a:xfrm>
          <a:prstGeom prst="roundRect">
            <a:avLst>
              <a:gd name="adj" fmla="val 5926"/>
            </a:avLst>
          </a:prstGeom>
          <a:solidFill>
            <a:srgbClr val="EEF3F6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7" name="Text 15"/>
          <p:cNvSpPr txBox="1"/>
          <p:nvPr/>
        </p:nvSpPr>
        <p:spPr>
          <a:xfrm>
            <a:off x="777240" y="4251960"/>
            <a:ext cx="3200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Staff QR Scan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4206240" y="4206240"/>
            <a:ext cx="7315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scan a passenger's QR code to instantly see verified mobility-equipment details and a pass/fail compliance check — built as the counterpart to the existing passenger-facing verification app.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502920" y="5897880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Deliverables committed: initial requirements document, low-fidelity wireframes, (scan results &amp; error states), and a client status update – no formal sign-off required at this stage.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35 | A  —  AI Travel Assistant Chatbot for Your Accessible Flight (YAF)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1132301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B5E9E29-80AE-843C-B6B1-7253268D69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E7B6B20D-6647-1E97-49E7-13CAFFA57B38}"/>
              </a:ext>
            </a:extLst>
          </p:cNvPr>
          <p:cNvSpPr txBox="1"/>
          <p:nvPr/>
        </p:nvSpPr>
        <p:spPr>
          <a:xfrm>
            <a:off x="502920" y="2926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2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1 PLAYBACK  ·  SLIDE 2 OF 7</a:t>
            </a:r>
            <a:endParaRPr lang="en-US" sz="105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2A58CE8D-ABD6-2A72-D5E2-284316041340}"/>
              </a:ext>
            </a:extLst>
          </p:cNvPr>
          <p:cNvSpPr txBox="1"/>
          <p:nvPr/>
        </p:nvSpPr>
        <p:spPr>
          <a:xfrm>
            <a:off x="502920" y="566928"/>
            <a:ext cx="111858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Original Plan — Week 2 Revision</a:t>
            </a:r>
            <a:endParaRPr lang="en-US" sz="32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9EB09B12-789C-8018-AA31-18747B3A2716}"/>
              </a:ext>
            </a:extLst>
          </p:cNvPr>
          <p:cNvSpPr txBox="1"/>
          <p:nvPr/>
        </p:nvSpPr>
        <p:spPr>
          <a:xfrm>
            <a:off x="502920" y="14173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set in the client proposal and Sprint 1 plan, before this week's work began.</a:t>
            </a:r>
            <a:endParaRPr lang="en-US" sz="140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D266833B-591D-827C-9396-C94DF84097AD}"/>
              </a:ext>
            </a:extLst>
          </p:cNvPr>
          <p:cNvSpPr/>
          <p:nvPr/>
        </p:nvSpPr>
        <p:spPr>
          <a:xfrm>
            <a:off x="4251960" y="1965960"/>
            <a:ext cx="3520440" cy="1417320"/>
          </a:xfrm>
          <a:prstGeom prst="roundRect">
            <a:avLst>
              <a:gd name="adj" fmla="val 6452"/>
            </a:avLst>
          </a:prstGeom>
          <a:solidFill>
            <a:srgbClr val="0B3D5C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3F493F31-13B4-5D2E-9454-DB831BB67A45}"/>
              </a:ext>
            </a:extLst>
          </p:cNvPr>
          <p:cNvSpPr txBox="1"/>
          <p:nvPr/>
        </p:nvSpPr>
        <p:spPr>
          <a:xfrm>
            <a:off x="4480560" y="210312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2A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 2</a:t>
            </a:r>
            <a:endParaRPr lang="en-US" sz="16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E99D5402-65B9-D47F-8FBA-3B19828ED1B0}"/>
              </a:ext>
            </a:extLst>
          </p:cNvPr>
          <p:cNvSpPr txBox="1"/>
          <p:nvPr/>
        </p:nvSpPr>
        <p:spPr>
          <a:xfrm>
            <a:off x="4480560" y="2441448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Refine requirements, build prototypes, secure client sign-off before development</a:t>
            </a:r>
            <a:endParaRPr lang="en-US" sz="120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9F366C66-BA9E-959D-7F68-AB5C2FB1F396}"/>
              </a:ext>
            </a:extLst>
          </p:cNvPr>
          <p:cNvSpPr/>
          <p:nvPr/>
        </p:nvSpPr>
        <p:spPr>
          <a:xfrm>
            <a:off x="8001000" y="1965960"/>
            <a:ext cx="35204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chemeClr val="bg1">
                <a:lumMod val="85000"/>
              </a:schemeClr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915D8953-393C-D4F7-48AE-B9A5452F097C}"/>
              </a:ext>
            </a:extLst>
          </p:cNvPr>
          <p:cNvSpPr txBox="1"/>
          <p:nvPr/>
        </p:nvSpPr>
        <p:spPr>
          <a:xfrm>
            <a:off x="8229600" y="210312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 3</a:t>
            </a:r>
            <a:endParaRPr lang="en-US" sz="16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1C805545-5FB3-D554-5826-F56703E48A94}"/>
              </a:ext>
            </a:extLst>
          </p:cNvPr>
          <p:cNvSpPr txBox="1"/>
          <p:nvPr/>
        </p:nvSpPr>
        <p:spPr>
          <a:xfrm>
            <a:off x="8229600" y="2441448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1 Playback — present plan quality &amp; forward progress to supervisor</a:t>
            </a:r>
            <a:endParaRPr lang="en-US" sz="120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A6A68685-F17B-F23B-A81A-309EF9D2284D}"/>
              </a:ext>
            </a:extLst>
          </p:cNvPr>
          <p:cNvSpPr txBox="1"/>
          <p:nvPr/>
        </p:nvSpPr>
        <p:spPr>
          <a:xfrm>
            <a:off x="502920" y="37033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kern="0" spc="8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1 BASELINE FEATURE (revised, per the client-confirmed proposal)</a:t>
            </a:r>
            <a:endParaRPr lang="en-US" sz="1200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713CC40D-9DE3-FA20-3C9E-19AD0A22E4B3}"/>
              </a:ext>
            </a:extLst>
          </p:cNvPr>
          <p:cNvSpPr txBox="1"/>
          <p:nvPr/>
        </p:nvSpPr>
        <p:spPr>
          <a:xfrm>
            <a:off x="502920" y="5897880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Deliverables committed: revised requirements document, low and high-fidelity prototypes, and full client sign-off before Sprint 2 development begins.</a:t>
            </a:r>
            <a:endParaRPr lang="en-US" sz="1250" dirty="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3316E0A6-2D84-F47B-95F0-45D532CF396D}"/>
              </a:ext>
            </a:extLst>
          </p:cNvPr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35 | A  —  AI Travel Assistant Chatbot for Your Accessible Flight (YAF)</a:t>
            </a:r>
            <a:endParaRPr lang="en-US" sz="950" dirty="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89DE967B-9B16-7916-36C9-91CBE373C832}"/>
              </a:ext>
            </a:extLst>
          </p:cNvPr>
          <p:cNvSpPr txBox="1"/>
          <p:nvPr/>
        </p:nvSpPr>
        <p:spPr>
          <a:xfrm>
            <a:off x="1132301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</p:txBody>
      </p:sp>
      <p:sp>
        <p:nvSpPr>
          <p:cNvPr id="26" name="Shape 13">
            <a:extLst>
              <a:ext uri="{FF2B5EF4-FFF2-40B4-BE49-F238E27FC236}">
                <a16:creationId xmlns:a16="http://schemas.microsoft.com/office/drawing/2014/main" id="{67D3167B-60C4-5DD1-BC19-1F9657E926B4}"/>
              </a:ext>
            </a:extLst>
          </p:cNvPr>
          <p:cNvSpPr/>
          <p:nvPr/>
        </p:nvSpPr>
        <p:spPr>
          <a:xfrm>
            <a:off x="503072" y="4046220"/>
            <a:ext cx="11185855" cy="1691640"/>
          </a:xfrm>
          <a:prstGeom prst="roundRect">
            <a:avLst>
              <a:gd name="adj" fmla="val 5405"/>
            </a:avLst>
          </a:prstGeom>
          <a:solidFill>
            <a:srgbClr val="0B3D5C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27" name="Shape 14">
            <a:extLst>
              <a:ext uri="{FF2B5EF4-FFF2-40B4-BE49-F238E27FC236}">
                <a16:creationId xmlns:a16="http://schemas.microsoft.com/office/drawing/2014/main" id="{84C06E56-7FBA-FA30-85E0-6985063D9061}"/>
              </a:ext>
            </a:extLst>
          </p:cNvPr>
          <p:cNvSpPr/>
          <p:nvPr/>
        </p:nvSpPr>
        <p:spPr>
          <a:xfrm>
            <a:off x="777392" y="4274820"/>
            <a:ext cx="3200400" cy="1234440"/>
          </a:xfrm>
          <a:prstGeom prst="roundRect">
            <a:avLst>
              <a:gd name="adj" fmla="val 5926"/>
            </a:avLst>
          </a:prstGeom>
          <a:solidFill>
            <a:srgbClr val="F2A65A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28" name="Text 15">
            <a:extLst>
              <a:ext uri="{FF2B5EF4-FFF2-40B4-BE49-F238E27FC236}">
                <a16:creationId xmlns:a16="http://schemas.microsoft.com/office/drawing/2014/main" id="{E8AF6781-915E-B9BC-8907-476032868333}"/>
              </a:ext>
            </a:extLst>
          </p:cNvPr>
          <p:cNvSpPr txBox="1"/>
          <p:nvPr/>
        </p:nvSpPr>
        <p:spPr>
          <a:xfrm>
            <a:off x="777392" y="4274820"/>
            <a:ext cx="3200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8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Travel Assistant Chatbot</a:t>
            </a:r>
            <a:endParaRPr lang="en-US" sz="1800" dirty="0"/>
          </a:p>
        </p:txBody>
      </p:sp>
      <p:sp>
        <p:nvSpPr>
          <p:cNvPr id="29" name="Text 16">
            <a:extLst>
              <a:ext uri="{FF2B5EF4-FFF2-40B4-BE49-F238E27FC236}">
                <a16:creationId xmlns:a16="http://schemas.microsoft.com/office/drawing/2014/main" id="{42C29C1D-2229-2EE6-D4B4-12F9A15B2B01}"/>
              </a:ext>
            </a:extLst>
          </p:cNvPr>
          <p:cNvSpPr txBox="1"/>
          <p:nvPr/>
        </p:nvSpPr>
        <p:spPr>
          <a:xfrm>
            <a:off x="4206392" y="4229100"/>
            <a:ext cx="7315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Flight-number/destination → route, aircraft &amp; accessibility match → hotel suggestion — replacing the staff-only scan with the feature the client's own travelers will use.</a:t>
            </a:r>
            <a:endParaRPr lang="en-US" sz="1350" dirty="0"/>
          </a:p>
        </p:txBody>
      </p:sp>
    </p:spTree>
    <p:extLst>
      <p:ext uri="{BB962C8B-B14F-4D97-AF65-F5344CB8AC3E}">
        <p14:creationId xmlns:p14="http://schemas.microsoft.com/office/powerpoint/2010/main" val="388178033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77CB38C-D1CA-04A0-6991-9B2286167F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3512C04-E9F1-093B-B9BE-8782CDDBEBEF}"/>
              </a:ext>
            </a:extLst>
          </p:cNvPr>
          <p:cNvSpPr txBox="1"/>
          <p:nvPr/>
        </p:nvSpPr>
        <p:spPr>
          <a:xfrm>
            <a:off x="502920" y="2926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2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1 PLAYBACK  ·  SLIDE 3 OF 7</a:t>
            </a:r>
            <a:endParaRPr lang="en-US" sz="105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32E4E9DD-9BB6-FFE0-EF55-C0A1E927E2EE}"/>
              </a:ext>
            </a:extLst>
          </p:cNvPr>
          <p:cNvSpPr txBox="1"/>
          <p:nvPr/>
        </p:nvSpPr>
        <p:spPr>
          <a:xfrm>
            <a:off x="502920" y="566928"/>
            <a:ext cx="111858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Actual Achievement — Week 1 Evidence</a:t>
            </a:r>
            <a:endParaRPr lang="en-US" sz="32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6FEB6A87-1372-3C97-8918-F2FD3DBC4493}"/>
              </a:ext>
            </a:extLst>
          </p:cNvPr>
          <p:cNvSpPr/>
          <p:nvPr/>
        </p:nvSpPr>
        <p:spPr>
          <a:xfrm>
            <a:off x="502920" y="1463040"/>
            <a:ext cx="3520440" cy="1051560"/>
          </a:xfrm>
          <a:prstGeom prst="roundRect">
            <a:avLst>
              <a:gd name="adj" fmla="val 8696"/>
            </a:avLst>
          </a:prstGeom>
          <a:solidFill>
            <a:srgbClr val="0B3D5C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644ABE8C-EB48-AC77-8763-BBB56D207C7F}"/>
              </a:ext>
            </a:extLst>
          </p:cNvPr>
          <p:cNvSpPr txBox="1"/>
          <p:nvPr/>
        </p:nvSpPr>
        <p:spPr>
          <a:xfrm>
            <a:off x="685800" y="1536192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2A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/ 5</a:t>
            </a:r>
            <a:endParaRPr lang="en-US" sz="30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F93FDB20-272D-A6AC-03BB-825E637EC03F}"/>
              </a:ext>
            </a:extLst>
          </p:cNvPr>
          <p:cNvSpPr txBox="1"/>
          <p:nvPr/>
        </p:nvSpPr>
        <p:spPr>
          <a:xfrm>
            <a:off x="685800" y="2084832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1 Week 1 tasks completed</a:t>
            </a:r>
            <a:endParaRPr lang="en-US" sz="115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C6C4405D-43C0-2BD8-939F-118D19E43230}"/>
              </a:ext>
            </a:extLst>
          </p:cNvPr>
          <p:cNvSpPr/>
          <p:nvPr/>
        </p:nvSpPr>
        <p:spPr>
          <a:xfrm>
            <a:off x="4251960" y="1463040"/>
            <a:ext cx="3520440" cy="1051560"/>
          </a:xfrm>
          <a:prstGeom prst="roundRect">
            <a:avLst>
              <a:gd name="adj" fmla="val 8696"/>
            </a:avLst>
          </a:prstGeom>
          <a:solidFill>
            <a:srgbClr val="0B3D5C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9F323707-3BE3-5D64-F46B-CC6F044CF07E}"/>
              </a:ext>
            </a:extLst>
          </p:cNvPr>
          <p:cNvSpPr txBox="1"/>
          <p:nvPr/>
        </p:nvSpPr>
        <p:spPr>
          <a:xfrm>
            <a:off x="4434840" y="1536192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2A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 hrs</a:t>
            </a:r>
            <a:endParaRPr lang="en-US" sz="30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8F4D630F-0EAF-0EED-19C7-AAB4BC9414EA}"/>
              </a:ext>
            </a:extLst>
          </p:cNvPr>
          <p:cNvSpPr txBox="1"/>
          <p:nvPr/>
        </p:nvSpPr>
        <p:spPr>
          <a:xfrm>
            <a:off x="4434840" y="2084832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Logged this week</a:t>
            </a:r>
            <a:endParaRPr lang="en-US" sz="1150"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01B1BEA9-617E-C7E3-5465-A04DB4333CE4}"/>
              </a:ext>
            </a:extLst>
          </p:cNvPr>
          <p:cNvSpPr/>
          <p:nvPr/>
        </p:nvSpPr>
        <p:spPr>
          <a:xfrm>
            <a:off x="8001000" y="1463040"/>
            <a:ext cx="3520440" cy="1051560"/>
          </a:xfrm>
          <a:prstGeom prst="roundRect">
            <a:avLst>
              <a:gd name="adj" fmla="val 8696"/>
            </a:avLst>
          </a:prstGeom>
          <a:solidFill>
            <a:srgbClr val="0B3D5C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A53A07C4-0B0A-0D01-738A-7275A66C1FEA}"/>
              </a:ext>
            </a:extLst>
          </p:cNvPr>
          <p:cNvSpPr txBox="1"/>
          <p:nvPr/>
        </p:nvSpPr>
        <p:spPr>
          <a:xfrm>
            <a:off x="8183880" y="1536192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2A65A"/>
                </a:solidFill>
                <a:latin typeface="Cambria" pitchFamily="34" charset="0"/>
                <a:ea typeface="Cambria" pitchFamily="34" charset="-122"/>
              </a:rPr>
              <a:t>3</a:t>
            </a:r>
            <a:endParaRPr lang="en-US" sz="300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A7EC4897-8749-536D-C02B-89C0B062A4F0}"/>
              </a:ext>
            </a:extLst>
          </p:cNvPr>
          <p:cNvSpPr txBox="1"/>
          <p:nvPr/>
        </p:nvSpPr>
        <p:spPr>
          <a:xfrm>
            <a:off x="8183880" y="2084832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documents produced</a:t>
            </a:r>
            <a:endParaRPr lang="en-US" sz="115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50DE4378-D3D5-5827-A359-56361234886A}"/>
              </a:ext>
            </a:extLst>
          </p:cNvPr>
          <p:cNvSpPr txBox="1"/>
          <p:nvPr/>
        </p:nvSpPr>
        <p:spPr>
          <a:xfrm>
            <a:off x="502920" y="2697480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built the foundation the pivot was validated against — requirements, wireframes, backend, and research, all shipped on schedule:</a:t>
            </a:r>
            <a:endParaRPr lang="en-US" sz="1350" dirty="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379942D7-DEE2-CC3D-D866-4DD23AE6929A}"/>
              </a:ext>
            </a:extLst>
          </p:cNvPr>
          <p:cNvSpPr/>
          <p:nvPr/>
        </p:nvSpPr>
        <p:spPr>
          <a:xfrm>
            <a:off x="502920" y="3364992"/>
            <a:ext cx="310896" cy="310896"/>
          </a:xfrm>
          <a:prstGeom prst="ellipse">
            <a:avLst/>
          </a:prstGeom>
          <a:solidFill>
            <a:srgbClr val="2E7D5B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BCEA4809-4063-EF17-8805-4F821E752669}"/>
              </a:ext>
            </a:extLst>
          </p:cNvPr>
          <p:cNvSpPr txBox="1"/>
          <p:nvPr/>
        </p:nvSpPr>
        <p:spPr>
          <a:xfrm>
            <a:off x="502920" y="33649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3DF85BF5-D38B-AA9C-B758-7CF17B6EBB8E}"/>
              </a:ext>
            </a:extLst>
          </p:cNvPr>
          <p:cNvSpPr txBox="1"/>
          <p:nvPr/>
        </p:nvSpPr>
        <p:spPr>
          <a:xfrm>
            <a:off x="941832" y="3282696"/>
            <a:ext cx="4937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5000"/>
              </a:lnSpc>
            </a:pPr>
            <a:r>
              <a:rPr lang="en-US" sz="125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requirements doc</a:t>
            </a:r>
            <a:r>
              <a:rPr lang="en-US" sz="11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QR Scan — problem, target users &amp; candidate feature (BA, 4h)</a:t>
            </a:r>
            <a:endParaRPr lang="en-US" sz="1100" dirty="0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78D3D0DE-48B5-17A7-3063-56E0FDE26BD2}"/>
              </a:ext>
            </a:extLst>
          </p:cNvPr>
          <p:cNvSpPr/>
          <p:nvPr/>
        </p:nvSpPr>
        <p:spPr>
          <a:xfrm>
            <a:off x="6217920" y="3364992"/>
            <a:ext cx="310896" cy="310896"/>
          </a:xfrm>
          <a:prstGeom prst="ellipse">
            <a:avLst/>
          </a:prstGeom>
          <a:solidFill>
            <a:srgbClr val="2E7D5B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13532E02-E5F4-CBB7-E7A2-C197E24E6231}"/>
              </a:ext>
            </a:extLst>
          </p:cNvPr>
          <p:cNvSpPr txBox="1"/>
          <p:nvPr/>
        </p:nvSpPr>
        <p:spPr>
          <a:xfrm>
            <a:off x="6217920" y="33649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8F3D8DD6-C7E4-8DF3-F6E6-028C7CF45BF0}"/>
              </a:ext>
            </a:extLst>
          </p:cNvPr>
          <p:cNvSpPr txBox="1"/>
          <p:nvPr/>
        </p:nvSpPr>
        <p:spPr>
          <a:xfrm>
            <a:off x="6656832" y="3282696"/>
            <a:ext cx="4937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5000"/>
              </a:lnSpc>
            </a:pPr>
            <a:r>
              <a:rPr lang="en-US" sz="125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Low-fi wireframes</a:t>
            </a:r>
            <a:r>
              <a:rPr lang="en-US" sz="11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scan, results &amp; error states in Figma (UX, 4h)</a:t>
            </a:r>
            <a:endParaRPr lang="en-US" sz="1100" dirty="0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4B233C3C-0244-7A82-2B54-5CAC20D9E165}"/>
              </a:ext>
            </a:extLst>
          </p:cNvPr>
          <p:cNvSpPr/>
          <p:nvPr/>
        </p:nvSpPr>
        <p:spPr>
          <a:xfrm>
            <a:off x="502920" y="4279392"/>
            <a:ext cx="310896" cy="310896"/>
          </a:xfrm>
          <a:prstGeom prst="ellipse">
            <a:avLst/>
          </a:prstGeom>
          <a:solidFill>
            <a:srgbClr val="2E7D5B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E425EB75-40F8-88CC-6835-0566681CFF03}"/>
              </a:ext>
            </a:extLst>
          </p:cNvPr>
          <p:cNvSpPr txBox="1"/>
          <p:nvPr/>
        </p:nvSpPr>
        <p:spPr>
          <a:xfrm>
            <a:off x="502920" y="42793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02C8F3DA-42F7-ACE7-38BB-1C9BB92A927B}"/>
              </a:ext>
            </a:extLst>
          </p:cNvPr>
          <p:cNvSpPr txBox="1"/>
          <p:nvPr/>
        </p:nvSpPr>
        <p:spPr>
          <a:xfrm>
            <a:off x="941832" y="4197096"/>
            <a:ext cx="4937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5000"/>
              </a:lnSpc>
            </a:pPr>
            <a:r>
              <a:rPr lang="en-US" sz="125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web server &amp; database</a:t>
            </a:r>
            <a:r>
              <a:rPr lang="en-US" sz="11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+ Firestore live, confirmed via test sign-up (Dev, 3h)</a:t>
            </a:r>
            <a:endParaRPr lang="en-US" sz="1100" dirty="0"/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3F6A856E-7E83-980C-B6F2-7760816017B0}"/>
              </a:ext>
            </a:extLst>
          </p:cNvPr>
          <p:cNvSpPr/>
          <p:nvPr/>
        </p:nvSpPr>
        <p:spPr>
          <a:xfrm>
            <a:off x="6217920" y="4279392"/>
            <a:ext cx="310896" cy="310896"/>
          </a:xfrm>
          <a:prstGeom prst="ellipse">
            <a:avLst/>
          </a:prstGeom>
          <a:solidFill>
            <a:srgbClr val="2E7D5B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68B90FC0-840C-7AE0-BD13-5169756CF8DA}"/>
              </a:ext>
            </a:extLst>
          </p:cNvPr>
          <p:cNvSpPr txBox="1"/>
          <p:nvPr/>
        </p:nvSpPr>
        <p:spPr>
          <a:xfrm>
            <a:off x="6217920" y="42793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AB3D754B-7786-941C-420A-FBBC2F399F2E}"/>
              </a:ext>
            </a:extLst>
          </p:cNvPr>
          <p:cNvSpPr txBox="1"/>
          <p:nvPr/>
        </p:nvSpPr>
        <p:spPr>
          <a:xfrm>
            <a:off x="6656832" y="4197096"/>
            <a:ext cx="4937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5000"/>
              </a:lnSpc>
            </a:pPr>
            <a:r>
              <a:rPr lang="en-US" sz="125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Wheelchair/aircraft-door research
</a:t>
            </a: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compatibility standards to inform schema (Dev, 4h)</a:t>
            </a:r>
            <a:endParaRPr lang="en-US" sz="1100" dirty="0"/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FC426979-283E-7818-F094-CB9193F4E052}"/>
              </a:ext>
            </a:extLst>
          </p:cNvPr>
          <p:cNvSpPr/>
          <p:nvPr/>
        </p:nvSpPr>
        <p:spPr>
          <a:xfrm>
            <a:off x="502920" y="5193792"/>
            <a:ext cx="310896" cy="310896"/>
          </a:xfrm>
          <a:prstGeom prst="ellipse">
            <a:avLst/>
          </a:prstGeom>
          <a:solidFill>
            <a:srgbClr val="2E7D5B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1B2DBB4F-6DC1-4411-447C-4025B36B03BD}"/>
              </a:ext>
            </a:extLst>
          </p:cNvPr>
          <p:cNvSpPr txBox="1"/>
          <p:nvPr/>
        </p:nvSpPr>
        <p:spPr>
          <a:xfrm>
            <a:off x="502920" y="51937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9CC2AB6E-1DF2-AF08-997D-0213EE054C9D}"/>
              </a:ext>
            </a:extLst>
          </p:cNvPr>
          <p:cNvSpPr txBox="1"/>
          <p:nvPr/>
        </p:nvSpPr>
        <p:spPr>
          <a:xfrm>
            <a:off x="941832" y="5111496"/>
            <a:ext cx="4937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5000"/>
              </a:lnSpc>
            </a:pPr>
            <a:r>
              <a:rPr lang="en-US" sz="125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status update &amp; agenda</a:t>
            </a:r>
            <a:r>
              <a:rPr lang="en-US" sz="11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aligned, no follow-up meeting required (PM, 4h)</a:t>
            </a:r>
            <a:endParaRPr lang="en-US" sz="1100" dirty="0"/>
          </a:p>
        </p:txBody>
      </p:sp>
      <p:sp>
        <p:nvSpPr>
          <p:cNvPr id="32" name="Shape 30">
            <a:extLst>
              <a:ext uri="{FF2B5EF4-FFF2-40B4-BE49-F238E27FC236}">
                <a16:creationId xmlns:a16="http://schemas.microsoft.com/office/drawing/2014/main" id="{F5C86F0C-AD32-BFBA-9B1C-9BA1599D9932}"/>
              </a:ext>
            </a:extLst>
          </p:cNvPr>
          <p:cNvSpPr/>
          <p:nvPr/>
        </p:nvSpPr>
        <p:spPr>
          <a:xfrm>
            <a:off x="502920" y="5806440"/>
            <a:ext cx="11185855" cy="502920"/>
          </a:xfrm>
          <a:prstGeom prst="roundRect">
            <a:avLst>
              <a:gd name="adj" fmla="val 14545"/>
            </a:avLst>
          </a:prstGeom>
          <a:solidFill>
            <a:srgbClr val="EEF3F6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7C8069C7-0F7D-0BB5-C566-0B0F22458865}"/>
              </a:ext>
            </a:extLst>
          </p:cNvPr>
          <p:cNvSpPr txBox="1"/>
          <p:nvPr/>
        </p:nvSpPr>
        <p:spPr>
          <a:xfrm>
            <a:off x="731520" y="5806440"/>
            <a:ext cx="107286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5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foundation is what let us catch the scope pivot early — </a:t>
            </a:r>
            <a:r>
              <a:rPr lang="en-US" sz="12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Week 2 committed real build time to the wrong feature.</a:t>
            </a:r>
            <a:endParaRPr lang="en-US" sz="1250" dirty="0"/>
          </a:p>
        </p:txBody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67C425EF-D484-A79A-DD18-60AAAC369393}"/>
              </a:ext>
            </a:extLst>
          </p:cNvPr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35 | A  —  AI Travel Assistant Chatbot for Your Accessible Flight (YAF)</a:t>
            </a:r>
            <a:endParaRPr lang="en-US" sz="950" dirty="0"/>
          </a:p>
        </p:txBody>
      </p:sp>
      <p:sp>
        <p:nvSpPr>
          <p:cNvPr id="35" name="Text 33">
            <a:extLst>
              <a:ext uri="{FF2B5EF4-FFF2-40B4-BE49-F238E27FC236}">
                <a16:creationId xmlns:a16="http://schemas.microsoft.com/office/drawing/2014/main" id="{A95883CA-0E7A-A98B-E19D-2C8C4B3D785A}"/>
              </a:ext>
            </a:extLst>
          </p:cNvPr>
          <p:cNvSpPr txBox="1"/>
          <p:nvPr/>
        </p:nvSpPr>
        <p:spPr>
          <a:xfrm>
            <a:off x="1132301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50" dirty="0"/>
          </a:p>
        </p:txBody>
      </p:sp>
    </p:spTree>
    <p:extLst>
      <p:ext uri="{BB962C8B-B14F-4D97-AF65-F5344CB8AC3E}">
        <p14:creationId xmlns:p14="http://schemas.microsoft.com/office/powerpoint/2010/main" val="233422640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C612D2-BFF7-155E-E2F5-8E085F0E45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3AD837C9-931A-1878-AFA0-680FEC1D7C63}"/>
              </a:ext>
            </a:extLst>
          </p:cNvPr>
          <p:cNvSpPr txBox="1"/>
          <p:nvPr/>
        </p:nvSpPr>
        <p:spPr>
          <a:xfrm>
            <a:off x="502920" y="2926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2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1 PLAYBACK  ·  SLIDE 3 OF 7</a:t>
            </a:r>
            <a:endParaRPr lang="en-US" sz="105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791BE08-070D-AD72-29C4-B321054B2920}"/>
              </a:ext>
            </a:extLst>
          </p:cNvPr>
          <p:cNvSpPr txBox="1"/>
          <p:nvPr/>
        </p:nvSpPr>
        <p:spPr>
          <a:xfrm>
            <a:off x="502920" y="566928"/>
            <a:ext cx="111858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Actual Achievement — Week 2 Evidence</a:t>
            </a:r>
            <a:endParaRPr lang="en-US" sz="32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B71BCE76-A9D9-5F28-B5BD-035FDE32F2E3}"/>
              </a:ext>
            </a:extLst>
          </p:cNvPr>
          <p:cNvSpPr/>
          <p:nvPr/>
        </p:nvSpPr>
        <p:spPr>
          <a:xfrm>
            <a:off x="502920" y="1463040"/>
            <a:ext cx="3520440" cy="1051560"/>
          </a:xfrm>
          <a:prstGeom prst="roundRect">
            <a:avLst>
              <a:gd name="adj" fmla="val 8696"/>
            </a:avLst>
          </a:prstGeom>
          <a:solidFill>
            <a:srgbClr val="0B3D5C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29D980F4-2228-E6F4-6AB5-10BA7422D60B}"/>
              </a:ext>
            </a:extLst>
          </p:cNvPr>
          <p:cNvSpPr txBox="1"/>
          <p:nvPr/>
        </p:nvSpPr>
        <p:spPr>
          <a:xfrm>
            <a:off x="685800" y="1536192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2A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 / 9</a:t>
            </a:r>
            <a:endParaRPr lang="en-US" sz="30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C5867BE1-4DCC-1996-BE11-3240615883FD}"/>
              </a:ext>
            </a:extLst>
          </p:cNvPr>
          <p:cNvSpPr txBox="1"/>
          <p:nvPr/>
        </p:nvSpPr>
        <p:spPr>
          <a:xfrm>
            <a:off x="685800" y="2084832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1 Week 2 tasks completed</a:t>
            </a:r>
            <a:endParaRPr lang="en-US" sz="115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45FC73BC-B03C-4A83-848F-2BBA1DA8EBCE}"/>
              </a:ext>
            </a:extLst>
          </p:cNvPr>
          <p:cNvSpPr/>
          <p:nvPr/>
        </p:nvSpPr>
        <p:spPr>
          <a:xfrm>
            <a:off x="4251960" y="1463040"/>
            <a:ext cx="3520440" cy="1051560"/>
          </a:xfrm>
          <a:prstGeom prst="roundRect">
            <a:avLst>
              <a:gd name="adj" fmla="val 8696"/>
            </a:avLst>
          </a:prstGeom>
          <a:solidFill>
            <a:srgbClr val="0B3D5C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386DD844-C52E-2F3E-763F-4503EF0EDC22}"/>
              </a:ext>
            </a:extLst>
          </p:cNvPr>
          <p:cNvSpPr txBox="1"/>
          <p:nvPr/>
        </p:nvSpPr>
        <p:spPr>
          <a:xfrm>
            <a:off x="4434840" y="1536192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2A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 hrs</a:t>
            </a:r>
            <a:endParaRPr lang="en-US" sz="30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A32F3E3F-A8A1-53A1-45B5-77DE039B1197}"/>
              </a:ext>
            </a:extLst>
          </p:cNvPr>
          <p:cNvSpPr txBox="1"/>
          <p:nvPr/>
        </p:nvSpPr>
        <p:spPr>
          <a:xfrm>
            <a:off x="4434840" y="2084832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Logged this week</a:t>
            </a:r>
            <a:endParaRPr lang="en-US" sz="1150"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1E5EE84A-D797-B7B2-677C-0BFEF153B798}"/>
              </a:ext>
            </a:extLst>
          </p:cNvPr>
          <p:cNvSpPr/>
          <p:nvPr/>
        </p:nvSpPr>
        <p:spPr>
          <a:xfrm>
            <a:off x="8001000" y="1463040"/>
            <a:ext cx="3520440" cy="1051560"/>
          </a:xfrm>
          <a:prstGeom prst="roundRect">
            <a:avLst>
              <a:gd name="adj" fmla="val 8696"/>
            </a:avLst>
          </a:prstGeom>
          <a:solidFill>
            <a:srgbClr val="0B3D5C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01B1A179-8318-7B34-CB4D-7403ADA10507}"/>
              </a:ext>
            </a:extLst>
          </p:cNvPr>
          <p:cNvSpPr txBox="1"/>
          <p:nvPr/>
        </p:nvSpPr>
        <p:spPr>
          <a:xfrm>
            <a:off x="8183880" y="1536192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2A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00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D31FD17B-B10B-0F7B-A1BF-ADC15F0DFFAE}"/>
              </a:ext>
            </a:extLst>
          </p:cNvPr>
          <p:cNvSpPr txBox="1"/>
          <p:nvPr/>
        </p:nvSpPr>
        <p:spPr>
          <a:xfrm>
            <a:off x="8183880" y="2084832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APIs selected &amp; live-tested</a:t>
            </a:r>
            <a:endParaRPr lang="en-US" sz="115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8E5545EE-2E6D-39E0-8DCA-47CAD180943B}"/>
              </a:ext>
            </a:extLst>
          </p:cNvPr>
          <p:cNvSpPr txBox="1"/>
          <p:nvPr/>
        </p:nvSpPr>
        <p:spPr>
          <a:xfrm>
            <a:off x="502920" y="2697480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pivoted from Staff QR Scan to the AI Travel Assistant Chatbot after deeper client discussion — then shipped a full sprint's evidence against the new direction:</a:t>
            </a:r>
            <a:endParaRPr lang="en-US" sz="1350" dirty="0"/>
          </a:p>
        </p:txBody>
      </p:sp>
      <p:sp>
        <p:nvSpPr>
          <p:cNvPr id="32" name="Shape 30">
            <a:extLst>
              <a:ext uri="{FF2B5EF4-FFF2-40B4-BE49-F238E27FC236}">
                <a16:creationId xmlns:a16="http://schemas.microsoft.com/office/drawing/2014/main" id="{37A8A81A-CE96-665F-DADD-09E1E75FFF3F}"/>
              </a:ext>
            </a:extLst>
          </p:cNvPr>
          <p:cNvSpPr/>
          <p:nvPr/>
        </p:nvSpPr>
        <p:spPr>
          <a:xfrm>
            <a:off x="502920" y="5806440"/>
            <a:ext cx="11185855" cy="502920"/>
          </a:xfrm>
          <a:prstGeom prst="roundRect">
            <a:avLst>
              <a:gd name="adj" fmla="val 14545"/>
            </a:avLst>
          </a:prstGeom>
          <a:solidFill>
            <a:srgbClr val="EEF3F6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52391542-E388-8496-BF04-AED9806487D8}"/>
              </a:ext>
            </a:extLst>
          </p:cNvPr>
          <p:cNvSpPr txBox="1"/>
          <p:nvPr/>
        </p:nvSpPr>
        <p:spPr>
          <a:xfrm>
            <a:off x="731520" y="5806440"/>
            <a:ext cx="107286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task closed with a Done / Deliverable / Note-for-next-role handoff </a:t>
            </a:r>
            <a:r>
              <a:rPr lang="en-US" sz="12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no open follow-ups blocking Sprint 2.</a:t>
            </a:r>
            <a:endParaRPr lang="en-US" sz="1250" dirty="0"/>
          </a:p>
        </p:txBody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A1E196FA-C193-8072-F3B7-85DFF28EE89B}"/>
              </a:ext>
            </a:extLst>
          </p:cNvPr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35 | A  —  AI Travel Assistant Chatbot for Your Accessible Flight (YAF)</a:t>
            </a:r>
            <a:endParaRPr lang="en-US" sz="950" dirty="0"/>
          </a:p>
        </p:txBody>
      </p:sp>
      <p:sp>
        <p:nvSpPr>
          <p:cNvPr id="35" name="Text 33">
            <a:extLst>
              <a:ext uri="{FF2B5EF4-FFF2-40B4-BE49-F238E27FC236}">
                <a16:creationId xmlns:a16="http://schemas.microsoft.com/office/drawing/2014/main" id="{24A150FC-1F29-9EE4-297E-35077C63C961}"/>
              </a:ext>
            </a:extLst>
          </p:cNvPr>
          <p:cNvSpPr txBox="1"/>
          <p:nvPr/>
        </p:nvSpPr>
        <p:spPr>
          <a:xfrm>
            <a:off x="1132301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50" dirty="0"/>
          </a:p>
        </p:txBody>
      </p:sp>
      <p:sp>
        <p:nvSpPr>
          <p:cNvPr id="18" name="Shape 15">
            <a:extLst>
              <a:ext uri="{FF2B5EF4-FFF2-40B4-BE49-F238E27FC236}">
                <a16:creationId xmlns:a16="http://schemas.microsoft.com/office/drawing/2014/main" id="{3E1CCA58-FAAC-949C-0EE1-5046B5B4A0CF}"/>
              </a:ext>
            </a:extLst>
          </p:cNvPr>
          <p:cNvSpPr/>
          <p:nvPr/>
        </p:nvSpPr>
        <p:spPr>
          <a:xfrm>
            <a:off x="6217920" y="3364992"/>
            <a:ext cx="310896" cy="310896"/>
          </a:xfrm>
          <a:prstGeom prst="ellipse">
            <a:avLst/>
          </a:prstGeom>
          <a:solidFill>
            <a:srgbClr val="2E7D5B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20" name="Text 16">
            <a:extLst>
              <a:ext uri="{FF2B5EF4-FFF2-40B4-BE49-F238E27FC236}">
                <a16:creationId xmlns:a16="http://schemas.microsoft.com/office/drawing/2014/main" id="{A654C3F6-20A1-6D14-5E2E-70D2D5F3BFCD}"/>
              </a:ext>
            </a:extLst>
          </p:cNvPr>
          <p:cNvSpPr txBox="1"/>
          <p:nvPr/>
        </p:nvSpPr>
        <p:spPr>
          <a:xfrm>
            <a:off x="6217920" y="33649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2" name="Text 17">
            <a:extLst>
              <a:ext uri="{FF2B5EF4-FFF2-40B4-BE49-F238E27FC236}">
                <a16:creationId xmlns:a16="http://schemas.microsoft.com/office/drawing/2014/main" id="{4E188030-48F3-0D16-4750-9ABB15B092C3}"/>
              </a:ext>
            </a:extLst>
          </p:cNvPr>
          <p:cNvSpPr txBox="1"/>
          <p:nvPr/>
        </p:nvSpPr>
        <p:spPr>
          <a:xfrm>
            <a:off x="6656832" y="3282696"/>
            <a:ext cx="4937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Low-fi + high-fi Figma prototype
</a:t>
            </a: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conversation flow incl. error &amp; empty states</a:t>
            </a:r>
            <a:endParaRPr lang="en-US" sz="1250" dirty="0"/>
          </a:p>
        </p:txBody>
      </p:sp>
      <p:sp>
        <p:nvSpPr>
          <p:cNvPr id="19" name="Shape 18">
            <a:extLst>
              <a:ext uri="{FF2B5EF4-FFF2-40B4-BE49-F238E27FC236}">
                <a16:creationId xmlns:a16="http://schemas.microsoft.com/office/drawing/2014/main" id="{5B31584B-D49E-57D4-9B9B-191A32F1B6C4}"/>
              </a:ext>
            </a:extLst>
          </p:cNvPr>
          <p:cNvSpPr/>
          <p:nvPr/>
        </p:nvSpPr>
        <p:spPr>
          <a:xfrm>
            <a:off x="502920" y="4279392"/>
            <a:ext cx="310896" cy="310896"/>
          </a:xfrm>
          <a:prstGeom prst="ellipse">
            <a:avLst/>
          </a:prstGeom>
          <a:solidFill>
            <a:srgbClr val="2E7D5B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23" name="Text 19">
            <a:extLst>
              <a:ext uri="{FF2B5EF4-FFF2-40B4-BE49-F238E27FC236}">
                <a16:creationId xmlns:a16="http://schemas.microsoft.com/office/drawing/2014/main" id="{5E21AB28-BA5D-E073-6EEE-BF54C3214D1C}"/>
              </a:ext>
            </a:extLst>
          </p:cNvPr>
          <p:cNvSpPr txBox="1"/>
          <p:nvPr/>
        </p:nvSpPr>
        <p:spPr>
          <a:xfrm>
            <a:off x="502920" y="42793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5" name="Text 20">
            <a:extLst>
              <a:ext uri="{FF2B5EF4-FFF2-40B4-BE49-F238E27FC236}">
                <a16:creationId xmlns:a16="http://schemas.microsoft.com/office/drawing/2014/main" id="{DE7EAEFF-625F-D33B-DCA8-4F7AF8FCE842}"/>
              </a:ext>
            </a:extLst>
          </p:cNvPr>
          <p:cNvSpPr txBox="1"/>
          <p:nvPr/>
        </p:nvSpPr>
        <p:spPr>
          <a:xfrm>
            <a:off x="941832" y="4197096"/>
            <a:ext cx="4937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Flight-data API proof of concept
</a:t>
            </a: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Airlabs — live-tested on real flight VJ82</a:t>
            </a:r>
            <a:endParaRPr lang="en-US" sz="1250" dirty="0"/>
          </a:p>
        </p:txBody>
      </p:sp>
      <p:sp>
        <p:nvSpPr>
          <p:cNvPr id="27" name="Shape 21">
            <a:extLst>
              <a:ext uri="{FF2B5EF4-FFF2-40B4-BE49-F238E27FC236}">
                <a16:creationId xmlns:a16="http://schemas.microsoft.com/office/drawing/2014/main" id="{004EF451-B915-38C0-6DCD-A964DBB78893}"/>
              </a:ext>
            </a:extLst>
          </p:cNvPr>
          <p:cNvSpPr/>
          <p:nvPr/>
        </p:nvSpPr>
        <p:spPr>
          <a:xfrm>
            <a:off x="6217920" y="4279392"/>
            <a:ext cx="310896" cy="310896"/>
          </a:xfrm>
          <a:prstGeom prst="ellipse">
            <a:avLst/>
          </a:prstGeom>
          <a:solidFill>
            <a:srgbClr val="2E7D5B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29" name="Text 22">
            <a:extLst>
              <a:ext uri="{FF2B5EF4-FFF2-40B4-BE49-F238E27FC236}">
                <a16:creationId xmlns:a16="http://schemas.microsoft.com/office/drawing/2014/main" id="{959A0DF1-D22E-9540-68AD-0792A9162E32}"/>
              </a:ext>
            </a:extLst>
          </p:cNvPr>
          <p:cNvSpPr txBox="1"/>
          <p:nvPr/>
        </p:nvSpPr>
        <p:spPr>
          <a:xfrm>
            <a:off x="6217920" y="42793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31" name="Text 23">
            <a:extLst>
              <a:ext uri="{FF2B5EF4-FFF2-40B4-BE49-F238E27FC236}">
                <a16:creationId xmlns:a16="http://schemas.microsoft.com/office/drawing/2014/main" id="{F402C697-4756-7A23-013B-3BC41E8E266C}"/>
              </a:ext>
            </a:extLst>
          </p:cNvPr>
          <p:cNvSpPr txBox="1"/>
          <p:nvPr/>
        </p:nvSpPr>
        <p:spPr>
          <a:xfrm>
            <a:off x="6656832" y="4197096"/>
            <a:ext cx="4937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Hotel/booking provider research
</a:t>
            </a: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StayingAPI selected, live-tested with real accessibility data</a:t>
            </a:r>
            <a:endParaRPr lang="en-US" sz="1250" dirty="0"/>
          </a:p>
        </p:txBody>
      </p:sp>
      <p:sp>
        <p:nvSpPr>
          <p:cNvPr id="37" name="Shape 24">
            <a:extLst>
              <a:ext uri="{FF2B5EF4-FFF2-40B4-BE49-F238E27FC236}">
                <a16:creationId xmlns:a16="http://schemas.microsoft.com/office/drawing/2014/main" id="{5D116ED5-3BB5-14F8-2AFA-9536F366632F}"/>
              </a:ext>
            </a:extLst>
          </p:cNvPr>
          <p:cNvSpPr/>
          <p:nvPr/>
        </p:nvSpPr>
        <p:spPr>
          <a:xfrm>
            <a:off x="502920" y="5193792"/>
            <a:ext cx="310896" cy="310896"/>
          </a:xfrm>
          <a:prstGeom prst="ellipse">
            <a:avLst/>
          </a:prstGeom>
          <a:solidFill>
            <a:srgbClr val="2E7D5B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40" name="Text 25">
            <a:extLst>
              <a:ext uri="{FF2B5EF4-FFF2-40B4-BE49-F238E27FC236}">
                <a16:creationId xmlns:a16="http://schemas.microsoft.com/office/drawing/2014/main" id="{5A14D256-DF8F-A140-3E49-18E0D3C183D2}"/>
              </a:ext>
            </a:extLst>
          </p:cNvPr>
          <p:cNvSpPr txBox="1"/>
          <p:nvPr/>
        </p:nvSpPr>
        <p:spPr>
          <a:xfrm>
            <a:off x="502920" y="51937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44" name="Text 26">
            <a:extLst>
              <a:ext uri="{FF2B5EF4-FFF2-40B4-BE49-F238E27FC236}">
                <a16:creationId xmlns:a16="http://schemas.microsoft.com/office/drawing/2014/main" id="{8334772C-210D-AF2E-59D6-DDACBAD1358E}"/>
              </a:ext>
            </a:extLst>
          </p:cNvPr>
          <p:cNvSpPr txBox="1"/>
          <p:nvPr/>
        </p:nvSpPr>
        <p:spPr>
          <a:xfrm>
            <a:off x="941832" y="5111496"/>
            <a:ext cx="4937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Pinecone retrieval research
</a:t>
            </a: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 logic to Groq/OpenAI documented</a:t>
            </a:r>
            <a:endParaRPr lang="en-US" sz="1250" dirty="0"/>
          </a:p>
        </p:txBody>
      </p:sp>
      <p:sp>
        <p:nvSpPr>
          <p:cNvPr id="47" name="Shape 27">
            <a:extLst>
              <a:ext uri="{FF2B5EF4-FFF2-40B4-BE49-F238E27FC236}">
                <a16:creationId xmlns:a16="http://schemas.microsoft.com/office/drawing/2014/main" id="{4DDC2389-656D-1BA9-E75B-D85A767DC2B2}"/>
              </a:ext>
            </a:extLst>
          </p:cNvPr>
          <p:cNvSpPr/>
          <p:nvPr/>
        </p:nvSpPr>
        <p:spPr>
          <a:xfrm>
            <a:off x="6217920" y="5193792"/>
            <a:ext cx="310896" cy="310896"/>
          </a:xfrm>
          <a:prstGeom prst="ellipse">
            <a:avLst/>
          </a:prstGeom>
          <a:solidFill>
            <a:srgbClr val="2E7D5B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49" name="Text 28">
            <a:extLst>
              <a:ext uri="{FF2B5EF4-FFF2-40B4-BE49-F238E27FC236}">
                <a16:creationId xmlns:a16="http://schemas.microsoft.com/office/drawing/2014/main" id="{27BC0E6D-F7D2-F84C-CC3A-A2119713E6C7}"/>
              </a:ext>
            </a:extLst>
          </p:cNvPr>
          <p:cNvSpPr txBox="1"/>
          <p:nvPr/>
        </p:nvSpPr>
        <p:spPr>
          <a:xfrm>
            <a:off x="6217920" y="51937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51" name="Text 29">
            <a:extLst>
              <a:ext uri="{FF2B5EF4-FFF2-40B4-BE49-F238E27FC236}">
                <a16:creationId xmlns:a16="http://schemas.microsoft.com/office/drawing/2014/main" id="{C02C1F3B-1106-4B12-D11F-3DA93F0384C2}"/>
              </a:ext>
            </a:extLst>
          </p:cNvPr>
          <p:cNvSpPr txBox="1"/>
          <p:nvPr/>
        </p:nvSpPr>
        <p:spPr>
          <a:xfrm>
            <a:off x="6656832" y="5111496"/>
            <a:ext cx="4937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review session (4 Sept)
</a:t>
            </a: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formally signed off</a:t>
            </a:r>
            <a:endParaRPr lang="en-US" sz="1250" dirty="0"/>
          </a:p>
        </p:txBody>
      </p:sp>
      <p:sp>
        <p:nvSpPr>
          <p:cNvPr id="41" name="Shape 12">
            <a:extLst>
              <a:ext uri="{FF2B5EF4-FFF2-40B4-BE49-F238E27FC236}">
                <a16:creationId xmlns:a16="http://schemas.microsoft.com/office/drawing/2014/main" id="{7D97C42E-1648-F92F-75FF-0B478785D93E}"/>
              </a:ext>
            </a:extLst>
          </p:cNvPr>
          <p:cNvSpPr/>
          <p:nvPr/>
        </p:nvSpPr>
        <p:spPr>
          <a:xfrm>
            <a:off x="502920" y="3364992"/>
            <a:ext cx="310896" cy="310896"/>
          </a:xfrm>
          <a:prstGeom prst="ellipse">
            <a:avLst/>
          </a:prstGeom>
          <a:solidFill>
            <a:srgbClr val="2E7D5B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43" name="Text 13">
            <a:extLst>
              <a:ext uri="{FF2B5EF4-FFF2-40B4-BE49-F238E27FC236}">
                <a16:creationId xmlns:a16="http://schemas.microsoft.com/office/drawing/2014/main" id="{BC1D900D-4857-A5FD-BDFF-8CAA20E814B3}"/>
              </a:ext>
            </a:extLst>
          </p:cNvPr>
          <p:cNvSpPr txBox="1"/>
          <p:nvPr/>
        </p:nvSpPr>
        <p:spPr>
          <a:xfrm>
            <a:off x="502920" y="33649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46" name="Text 14">
            <a:extLst>
              <a:ext uri="{FF2B5EF4-FFF2-40B4-BE49-F238E27FC236}">
                <a16:creationId xmlns:a16="http://schemas.microsoft.com/office/drawing/2014/main" id="{4F572041-CAF1-6A9D-08AB-CEC47AB164E8}"/>
              </a:ext>
            </a:extLst>
          </p:cNvPr>
          <p:cNvSpPr txBox="1"/>
          <p:nvPr/>
        </p:nvSpPr>
        <p:spPr>
          <a:xfrm>
            <a:off x="941832" y="3282696"/>
            <a:ext cx="4937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Revised requirements doc
</a:t>
            </a: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flight/destination → route, aircraft, accessibility match, hotel suggestion</a:t>
            </a:r>
            <a:endParaRPr lang="en-US" sz="1250" dirty="0"/>
          </a:p>
        </p:txBody>
      </p:sp>
    </p:spTree>
    <p:extLst>
      <p:ext uri="{BB962C8B-B14F-4D97-AF65-F5344CB8AC3E}">
        <p14:creationId xmlns:p14="http://schemas.microsoft.com/office/powerpoint/2010/main" val="3464610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A3953B-6A68-69DB-D59C-3475D09D4B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4438C5A6-778A-180E-4793-273FA817A960}"/>
              </a:ext>
            </a:extLst>
          </p:cNvPr>
          <p:cNvSpPr txBox="1"/>
          <p:nvPr/>
        </p:nvSpPr>
        <p:spPr>
          <a:xfrm>
            <a:off x="502920" y="2926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2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1 PLAYBACK  ·  SLIDE 3 OF 7</a:t>
            </a:r>
            <a:endParaRPr lang="en-US" sz="105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5391B5D-EC28-B689-87E7-7D62E30D407B}"/>
              </a:ext>
            </a:extLst>
          </p:cNvPr>
          <p:cNvSpPr txBox="1"/>
          <p:nvPr/>
        </p:nvSpPr>
        <p:spPr>
          <a:xfrm>
            <a:off x="502920" y="566928"/>
            <a:ext cx="111858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Actual Achievement — Week 2 Evidence</a:t>
            </a:r>
            <a:endParaRPr lang="en-US" sz="32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D4D968FB-EEE1-33A2-5628-57151E679CF6}"/>
              </a:ext>
            </a:extLst>
          </p:cNvPr>
          <p:cNvSpPr/>
          <p:nvPr/>
        </p:nvSpPr>
        <p:spPr>
          <a:xfrm>
            <a:off x="502920" y="1463040"/>
            <a:ext cx="3520440" cy="1051560"/>
          </a:xfrm>
          <a:prstGeom prst="roundRect">
            <a:avLst>
              <a:gd name="adj" fmla="val 8696"/>
            </a:avLst>
          </a:prstGeom>
          <a:solidFill>
            <a:srgbClr val="0B3D5C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7CBEE2D1-E27A-4174-4C16-562AFD0C1C12}"/>
              </a:ext>
            </a:extLst>
          </p:cNvPr>
          <p:cNvSpPr txBox="1"/>
          <p:nvPr/>
        </p:nvSpPr>
        <p:spPr>
          <a:xfrm>
            <a:off x="685800" y="1536192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2A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 / 9</a:t>
            </a:r>
            <a:endParaRPr lang="en-US" sz="30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4F4633DC-D09F-70DB-EEA4-6C3452CD026D}"/>
              </a:ext>
            </a:extLst>
          </p:cNvPr>
          <p:cNvSpPr txBox="1"/>
          <p:nvPr/>
        </p:nvSpPr>
        <p:spPr>
          <a:xfrm>
            <a:off x="685800" y="2084832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1 Week 2 tasks completed</a:t>
            </a:r>
            <a:endParaRPr lang="en-US" sz="115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DBF5D006-E4CF-F54A-8A7D-BE4BB7CCD63B}"/>
              </a:ext>
            </a:extLst>
          </p:cNvPr>
          <p:cNvSpPr/>
          <p:nvPr/>
        </p:nvSpPr>
        <p:spPr>
          <a:xfrm>
            <a:off x="4251960" y="1463040"/>
            <a:ext cx="3520440" cy="1051560"/>
          </a:xfrm>
          <a:prstGeom prst="roundRect">
            <a:avLst>
              <a:gd name="adj" fmla="val 8696"/>
            </a:avLst>
          </a:prstGeom>
          <a:solidFill>
            <a:srgbClr val="0B3D5C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F6AE746F-8B9D-7EBC-719C-CBDE833DAF8A}"/>
              </a:ext>
            </a:extLst>
          </p:cNvPr>
          <p:cNvSpPr txBox="1"/>
          <p:nvPr/>
        </p:nvSpPr>
        <p:spPr>
          <a:xfrm>
            <a:off x="4434840" y="1536192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2A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 hrs</a:t>
            </a:r>
            <a:endParaRPr lang="en-US" sz="30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DA4DB6F9-F22A-65CB-1DE9-F82B15A2973E}"/>
              </a:ext>
            </a:extLst>
          </p:cNvPr>
          <p:cNvSpPr txBox="1"/>
          <p:nvPr/>
        </p:nvSpPr>
        <p:spPr>
          <a:xfrm>
            <a:off x="4434840" y="2084832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Logged this week</a:t>
            </a:r>
            <a:endParaRPr lang="en-US" sz="1150"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4BB7189F-931E-6F79-EEB1-13170ED9696F}"/>
              </a:ext>
            </a:extLst>
          </p:cNvPr>
          <p:cNvSpPr/>
          <p:nvPr/>
        </p:nvSpPr>
        <p:spPr>
          <a:xfrm>
            <a:off x="8001000" y="1463040"/>
            <a:ext cx="3520440" cy="1051560"/>
          </a:xfrm>
          <a:prstGeom prst="roundRect">
            <a:avLst>
              <a:gd name="adj" fmla="val 8696"/>
            </a:avLst>
          </a:prstGeom>
          <a:solidFill>
            <a:srgbClr val="0B3D5C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96F9350D-4971-1B22-CB51-1CE432F20BA7}"/>
              </a:ext>
            </a:extLst>
          </p:cNvPr>
          <p:cNvSpPr txBox="1"/>
          <p:nvPr/>
        </p:nvSpPr>
        <p:spPr>
          <a:xfrm>
            <a:off x="8183880" y="1536192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2A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00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AF1B256F-7AB8-29F6-8823-6CC8A00CFEBE}"/>
              </a:ext>
            </a:extLst>
          </p:cNvPr>
          <p:cNvSpPr txBox="1"/>
          <p:nvPr/>
        </p:nvSpPr>
        <p:spPr>
          <a:xfrm>
            <a:off x="8183880" y="2084832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APIs selected &amp; live-tested</a:t>
            </a:r>
            <a:endParaRPr lang="en-US" sz="115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923631E1-1AAA-D5FE-9D59-E1976FA1098F}"/>
              </a:ext>
            </a:extLst>
          </p:cNvPr>
          <p:cNvSpPr txBox="1"/>
          <p:nvPr/>
        </p:nvSpPr>
        <p:spPr>
          <a:xfrm>
            <a:off x="502920" y="2697480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pivoted from Staff QR Scan to the AI Travel Assistant Chatbot after deeper client discussion — then shipped a full sprint's evidence against the new direction:</a:t>
            </a:r>
            <a:endParaRPr lang="en-US" sz="1350" dirty="0"/>
          </a:p>
        </p:txBody>
      </p:sp>
      <p:sp>
        <p:nvSpPr>
          <p:cNvPr id="32" name="Shape 30">
            <a:extLst>
              <a:ext uri="{FF2B5EF4-FFF2-40B4-BE49-F238E27FC236}">
                <a16:creationId xmlns:a16="http://schemas.microsoft.com/office/drawing/2014/main" id="{311183AB-C95E-B1D0-048A-99202D5A71E4}"/>
              </a:ext>
            </a:extLst>
          </p:cNvPr>
          <p:cNvSpPr/>
          <p:nvPr/>
        </p:nvSpPr>
        <p:spPr>
          <a:xfrm>
            <a:off x="502920" y="5806440"/>
            <a:ext cx="11185855" cy="502920"/>
          </a:xfrm>
          <a:prstGeom prst="roundRect">
            <a:avLst>
              <a:gd name="adj" fmla="val 14545"/>
            </a:avLst>
          </a:prstGeom>
          <a:solidFill>
            <a:srgbClr val="EEF3F6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FBC1DDAA-12F5-FC51-CE73-B4FA5C241776}"/>
              </a:ext>
            </a:extLst>
          </p:cNvPr>
          <p:cNvSpPr txBox="1"/>
          <p:nvPr/>
        </p:nvSpPr>
        <p:spPr>
          <a:xfrm>
            <a:off x="731520" y="5806440"/>
            <a:ext cx="107286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task closed with a Done / Deliverable / Note-for-next-role handoff </a:t>
            </a:r>
            <a:r>
              <a:rPr lang="en-US" sz="12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no open follow-ups blocking Sprint 2.</a:t>
            </a:r>
            <a:endParaRPr lang="en-US" sz="1250" dirty="0"/>
          </a:p>
        </p:txBody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94482354-39F2-CE07-2B76-A973350E80EB}"/>
              </a:ext>
            </a:extLst>
          </p:cNvPr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35 | A  —  AI Travel Assistant Chatbot for Your Accessible Flight (YAF)</a:t>
            </a:r>
            <a:endParaRPr lang="en-US" sz="950" dirty="0"/>
          </a:p>
        </p:txBody>
      </p:sp>
      <p:sp>
        <p:nvSpPr>
          <p:cNvPr id="35" name="Text 33">
            <a:extLst>
              <a:ext uri="{FF2B5EF4-FFF2-40B4-BE49-F238E27FC236}">
                <a16:creationId xmlns:a16="http://schemas.microsoft.com/office/drawing/2014/main" id="{D09B350D-D9BB-B0FC-EEF6-58F137D1B6F8}"/>
              </a:ext>
            </a:extLst>
          </p:cNvPr>
          <p:cNvSpPr txBox="1"/>
          <p:nvPr/>
        </p:nvSpPr>
        <p:spPr>
          <a:xfrm>
            <a:off x="1132301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50" dirty="0"/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904AC9BF-8897-D647-CBFE-FFACD22373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6976" y="3836321"/>
            <a:ext cx="1705441" cy="1851710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C15C7598-BCDF-81F1-E6FA-BA16C8616E8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50453"/>
          <a:stretch>
            <a:fillRect/>
          </a:stretch>
        </p:blipFill>
        <p:spPr>
          <a:xfrm>
            <a:off x="3619431" y="3825815"/>
            <a:ext cx="1744288" cy="1863578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1E278FA4-0164-29E1-3D3B-5252E1B812C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08547" y="3824453"/>
            <a:ext cx="1904238" cy="1863578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600885E0-94C1-F2D7-1179-6D64653CD41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20786" y="3824454"/>
            <a:ext cx="1904238" cy="1862216"/>
          </a:xfrm>
          <a:prstGeom prst="rect">
            <a:avLst/>
          </a:prstGeom>
        </p:spPr>
      </p:pic>
      <p:sp>
        <p:nvSpPr>
          <p:cNvPr id="53" name="Text 17">
            <a:extLst>
              <a:ext uri="{FF2B5EF4-FFF2-40B4-BE49-F238E27FC236}">
                <a16:creationId xmlns:a16="http://schemas.microsoft.com/office/drawing/2014/main" id="{035F1BA5-6611-64BC-B661-A37B74C9105A}"/>
              </a:ext>
            </a:extLst>
          </p:cNvPr>
          <p:cNvSpPr txBox="1"/>
          <p:nvPr/>
        </p:nvSpPr>
        <p:spPr>
          <a:xfrm>
            <a:off x="6656832" y="3282696"/>
            <a:ext cx="4937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Low-fi + high-fi Figma prototype
</a:t>
            </a: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conversation flow incl. error &amp; empty states</a:t>
            </a:r>
            <a:endParaRPr lang="en-US" sz="1250" dirty="0"/>
          </a:p>
        </p:txBody>
      </p:sp>
      <p:sp>
        <p:nvSpPr>
          <p:cNvPr id="55" name="Shape 12">
            <a:extLst>
              <a:ext uri="{FF2B5EF4-FFF2-40B4-BE49-F238E27FC236}">
                <a16:creationId xmlns:a16="http://schemas.microsoft.com/office/drawing/2014/main" id="{DA920909-0591-8701-CAAD-2C6975AF4A09}"/>
              </a:ext>
            </a:extLst>
          </p:cNvPr>
          <p:cNvSpPr/>
          <p:nvPr/>
        </p:nvSpPr>
        <p:spPr>
          <a:xfrm>
            <a:off x="502920" y="3364992"/>
            <a:ext cx="310896" cy="310896"/>
          </a:xfrm>
          <a:prstGeom prst="ellipse">
            <a:avLst/>
          </a:prstGeom>
          <a:solidFill>
            <a:srgbClr val="2E7D5B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57" name="Text 13">
            <a:extLst>
              <a:ext uri="{FF2B5EF4-FFF2-40B4-BE49-F238E27FC236}">
                <a16:creationId xmlns:a16="http://schemas.microsoft.com/office/drawing/2014/main" id="{FC2FBE12-5007-4327-F3ED-F57F636F7229}"/>
              </a:ext>
            </a:extLst>
          </p:cNvPr>
          <p:cNvSpPr txBox="1"/>
          <p:nvPr/>
        </p:nvSpPr>
        <p:spPr>
          <a:xfrm>
            <a:off x="502920" y="33649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59" name="Text 14">
            <a:extLst>
              <a:ext uri="{FF2B5EF4-FFF2-40B4-BE49-F238E27FC236}">
                <a16:creationId xmlns:a16="http://schemas.microsoft.com/office/drawing/2014/main" id="{B4D00E06-A6B5-2594-868D-C7A67906E9C6}"/>
              </a:ext>
            </a:extLst>
          </p:cNvPr>
          <p:cNvSpPr txBox="1"/>
          <p:nvPr/>
        </p:nvSpPr>
        <p:spPr>
          <a:xfrm>
            <a:off x="941832" y="3282696"/>
            <a:ext cx="4937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Revised requirements doc
</a:t>
            </a: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flight/destination → route, aircraft, accessibility match, hotel suggestion</a:t>
            </a:r>
            <a:endParaRPr lang="en-US" sz="1250" dirty="0"/>
          </a:p>
        </p:txBody>
      </p:sp>
      <p:sp>
        <p:nvSpPr>
          <p:cNvPr id="61" name="Shape 15">
            <a:extLst>
              <a:ext uri="{FF2B5EF4-FFF2-40B4-BE49-F238E27FC236}">
                <a16:creationId xmlns:a16="http://schemas.microsoft.com/office/drawing/2014/main" id="{FD437832-CDA7-054B-56DA-27B850121623}"/>
              </a:ext>
            </a:extLst>
          </p:cNvPr>
          <p:cNvSpPr/>
          <p:nvPr/>
        </p:nvSpPr>
        <p:spPr>
          <a:xfrm>
            <a:off x="6217920" y="3364992"/>
            <a:ext cx="310896" cy="310896"/>
          </a:xfrm>
          <a:prstGeom prst="ellipse">
            <a:avLst/>
          </a:prstGeom>
          <a:solidFill>
            <a:srgbClr val="2E7D5B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63" name="Text 16">
            <a:extLst>
              <a:ext uri="{FF2B5EF4-FFF2-40B4-BE49-F238E27FC236}">
                <a16:creationId xmlns:a16="http://schemas.microsoft.com/office/drawing/2014/main" id="{9572D736-7293-9B83-D44D-1C0160A9F9FA}"/>
              </a:ext>
            </a:extLst>
          </p:cNvPr>
          <p:cNvSpPr txBox="1"/>
          <p:nvPr/>
        </p:nvSpPr>
        <p:spPr>
          <a:xfrm>
            <a:off x="6217920" y="33649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58405907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8B36E4-BC18-B8F3-8E15-038266069B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CC8B6B62-BD6A-DDA8-4063-78871C41A793}"/>
              </a:ext>
            </a:extLst>
          </p:cNvPr>
          <p:cNvSpPr txBox="1"/>
          <p:nvPr/>
        </p:nvSpPr>
        <p:spPr>
          <a:xfrm>
            <a:off x="502920" y="2926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2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1 PLAYBACK  ·  SLIDE 3 OF 7</a:t>
            </a:r>
            <a:endParaRPr lang="en-US" sz="105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67EA018-950F-57A4-1294-F1E09702D9CB}"/>
              </a:ext>
            </a:extLst>
          </p:cNvPr>
          <p:cNvSpPr txBox="1"/>
          <p:nvPr/>
        </p:nvSpPr>
        <p:spPr>
          <a:xfrm>
            <a:off x="502920" y="566928"/>
            <a:ext cx="111858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Actual Achievement — Week 2 Evidence</a:t>
            </a:r>
            <a:endParaRPr lang="en-US" sz="32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DBCF6323-CF42-D31A-8851-009A16D32EDF}"/>
              </a:ext>
            </a:extLst>
          </p:cNvPr>
          <p:cNvSpPr/>
          <p:nvPr/>
        </p:nvSpPr>
        <p:spPr>
          <a:xfrm>
            <a:off x="502920" y="1463040"/>
            <a:ext cx="3520440" cy="1051560"/>
          </a:xfrm>
          <a:prstGeom prst="roundRect">
            <a:avLst>
              <a:gd name="adj" fmla="val 8696"/>
            </a:avLst>
          </a:prstGeom>
          <a:solidFill>
            <a:srgbClr val="0B3D5C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2F295AA5-3292-53BE-42C2-48F240EA6A7D}"/>
              </a:ext>
            </a:extLst>
          </p:cNvPr>
          <p:cNvSpPr txBox="1"/>
          <p:nvPr/>
        </p:nvSpPr>
        <p:spPr>
          <a:xfrm>
            <a:off x="685800" y="1536192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2A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 / 9</a:t>
            </a:r>
            <a:endParaRPr lang="en-US" sz="30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A2A5ABE6-36CE-A153-0D1E-B4C45F74FAFA}"/>
              </a:ext>
            </a:extLst>
          </p:cNvPr>
          <p:cNvSpPr txBox="1"/>
          <p:nvPr/>
        </p:nvSpPr>
        <p:spPr>
          <a:xfrm>
            <a:off x="685800" y="2084832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1 Week 2 tasks completed</a:t>
            </a:r>
            <a:endParaRPr lang="en-US" sz="115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A789B86C-B3F6-A6B3-17F4-8821663C3FBB}"/>
              </a:ext>
            </a:extLst>
          </p:cNvPr>
          <p:cNvSpPr/>
          <p:nvPr/>
        </p:nvSpPr>
        <p:spPr>
          <a:xfrm>
            <a:off x="4251960" y="1463040"/>
            <a:ext cx="3520440" cy="1051560"/>
          </a:xfrm>
          <a:prstGeom prst="roundRect">
            <a:avLst>
              <a:gd name="adj" fmla="val 8696"/>
            </a:avLst>
          </a:prstGeom>
          <a:solidFill>
            <a:srgbClr val="0B3D5C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C94E23B2-34C3-A556-0C88-7EE792128D18}"/>
              </a:ext>
            </a:extLst>
          </p:cNvPr>
          <p:cNvSpPr txBox="1"/>
          <p:nvPr/>
        </p:nvSpPr>
        <p:spPr>
          <a:xfrm>
            <a:off x="4434840" y="1536192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2A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 hrs</a:t>
            </a:r>
            <a:endParaRPr lang="en-US" sz="30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7EC58AEF-146D-43F2-96CE-9E13CCB0841F}"/>
              </a:ext>
            </a:extLst>
          </p:cNvPr>
          <p:cNvSpPr txBox="1"/>
          <p:nvPr/>
        </p:nvSpPr>
        <p:spPr>
          <a:xfrm>
            <a:off x="4434840" y="2084832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Logged this week</a:t>
            </a:r>
            <a:endParaRPr lang="en-US" sz="1150"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6BF79C59-7A84-A248-2F12-B16F468675B6}"/>
              </a:ext>
            </a:extLst>
          </p:cNvPr>
          <p:cNvSpPr/>
          <p:nvPr/>
        </p:nvSpPr>
        <p:spPr>
          <a:xfrm>
            <a:off x="8001000" y="1463040"/>
            <a:ext cx="3520440" cy="1051560"/>
          </a:xfrm>
          <a:prstGeom prst="roundRect">
            <a:avLst>
              <a:gd name="adj" fmla="val 8696"/>
            </a:avLst>
          </a:prstGeom>
          <a:solidFill>
            <a:srgbClr val="0B3D5C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3E6F0634-9306-1E39-76C2-ACC863D76FEA}"/>
              </a:ext>
            </a:extLst>
          </p:cNvPr>
          <p:cNvSpPr txBox="1"/>
          <p:nvPr/>
        </p:nvSpPr>
        <p:spPr>
          <a:xfrm>
            <a:off x="8183880" y="1536192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2A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00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BF7EFB14-E2F7-E372-792B-BD2BE368D62C}"/>
              </a:ext>
            </a:extLst>
          </p:cNvPr>
          <p:cNvSpPr txBox="1"/>
          <p:nvPr/>
        </p:nvSpPr>
        <p:spPr>
          <a:xfrm>
            <a:off x="8183880" y="2084832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APIs selected &amp; live-tested</a:t>
            </a:r>
            <a:endParaRPr lang="en-US" sz="115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50EC3C1A-FA4E-A4FB-2A9E-31312D3F9FAF}"/>
              </a:ext>
            </a:extLst>
          </p:cNvPr>
          <p:cNvSpPr txBox="1"/>
          <p:nvPr/>
        </p:nvSpPr>
        <p:spPr>
          <a:xfrm>
            <a:off x="502920" y="2697480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pivoted from Staff QR Scan to the AI Travel Assistant Chatbot after deeper client discussion — then shipped a full sprint's evidence against the new direction:</a:t>
            </a:r>
            <a:endParaRPr lang="en-US" sz="1350" dirty="0"/>
          </a:p>
        </p:txBody>
      </p:sp>
      <p:sp>
        <p:nvSpPr>
          <p:cNvPr id="32" name="Shape 30">
            <a:extLst>
              <a:ext uri="{FF2B5EF4-FFF2-40B4-BE49-F238E27FC236}">
                <a16:creationId xmlns:a16="http://schemas.microsoft.com/office/drawing/2014/main" id="{03A4B0BC-6A6E-2F91-311A-5BAA8A8CF828}"/>
              </a:ext>
            </a:extLst>
          </p:cNvPr>
          <p:cNvSpPr/>
          <p:nvPr/>
        </p:nvSpPr>
        <p:spPr>
          <a:xfrm>
            <a:off x="502920" y="5806440"/>
            <a:ext cx="11185855" cy="502920"/>
          </a:xfrm>
          <a:prstGeom prst="roundRect">
            <a:avLst>
              <a:gd name="adj" fmla="val 14545"/>
            </a:avLst>
          </a:prstGeom>
          <a:solidFill>
            <a:srgbClr val="EEF3F6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09C08FB3-3801-5912-76CA-D0398A5FA5FE}"/>
              </a:ext>
            </a:extLst>
          </p:cNvPr>
          <p:cNvSpPr txBox="1"/>
          <p:nvPr/>
        </p:nvSpPr>
        <p:spPr>
          <a:xfrm>
            <a:off x="731520" y="5806440"/>
            <a:ext cx="107286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task closed with a Done / Deliverable / Note-for-next-role handoff </a:t>
            </a:r>
            <a:r>
              <a:rPr lang="en-US" sz="12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no open follow-ups blocking Sprint 2.</a:t>
            </a:r>
            <a:endParaRPr lang="en-US" sz="1250" dirty="0"/>
          </a:p>
        </p:txBody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43940A1D-BFFD-94A2-F41A-99843FDBB897}"/>
              </a:ext>
            </a:extLst>
          </p:cNvPr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35 | A  —  AI Travel Assistant Chatbot for Your Accessible Flight (YAF)</a:t>
            </a:r>
            <a:endParaRPr lang="en-US" sz="950" dirty="0"/>
          </a:p>
        </p:txBody>
      </p:sp>
      <p:sp>
        <p:nvSpPr>
          <p:cNvPr id="35" name="Text 33">
            <a:extLst>
              <a:ext uri="{FF2B5EF4-FFF2-40B4-BE49-F238E27FC236}">
                <a16:creationId xmlns:a16="http://schemas.microsoft.com/office/drawing/2014/main" id="{DC19900C-60FE-6D76-5599-EEF2BD52C627}"/>
              </a:ext>
            </a:extLst>
          </p:cNvPr>
          <p:cNvSpPr txBox="1"/>
          <p:nvPr/>
        </p:nvSpPr>
        <p:spPr>
          <a:xfrm>
            <a:off x="1132301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50" dirty="0"/>
          </a:p>
        </p:txBody>
      </p:sp>
      <p:sp>
        <p:nvSpPr>
          <p:cNvPr id="18" name="Shape 15">
            <a:extLst>
              <a:ext uri="{FF2B5EF4-FFF2-40B4-BE49-F238E27FC236}">
                <a16:creationId xmlns:a16="http://schemas.microsoft.com/office/drawing/2014/main" id="{8B922C18-CFF3-A26D-71D9-6A97F239E56C}"/>
              </a:ext>
            </a:extLst>
          </p:cNvPr>
          <p:cNvSpPr/>
          <p:nvPr/>
        </p:nvSpPr>
        <p:spPr>
          <a:xfrm>
            <a:off x="6217920" y="3364992"/>
            <a:ext cx="310896" cy="310896"/>
          </a:xfrm>
          <a:prstGeom prst="ellipse">
            <a:avLst/>
          </a:prstGeom>
          <a:solidFill>
            <a:srgbClr val="2E7D5B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20" name="Text 16">
            <a:extLst>
              <a:ext uri="{FF2B5EF4-FFF2-40B4-BE49-F238E27FC236}">
                <a16:creationId xmlns:a16="http://schemas.microsoft.com/office/drawing/2014/main" id="{359942B9-D4ED-3579-A175-23DD117B1B9C}"/>
              </a:ext>
            </a:extLst>
          </p:cNvPr>
          <p:cNvSpPr txBox="1"/>
          <p:nvPr/>
        </p:nvSpPr>
        <p:spPr>
          <a:xfrm>
            <a:off x="6217920" y="33649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2" name="Text 17">
            <a:extLst>
              <a:ext uri="{FF2B5EF4-FFF2-40B4-BE49-F238E27FC236}">
                <a16:creationId xmlns:a16="http://schemas.microsoft.com/office/drawing/2014/main" id="{C6795586-D422-4369-4C9E-D2124E0E9219}"/>
              </a:ext>
            </a:extLst>
          </p:cNvPr>
          <p:cNvSpPr txBox="1"/>
          <p:nvPr/>
        </p:nvSpPr>
        <p:spPr>
          <a:xfrm>
            <a:off x="6656832" y="3282696"/>
            <a:ext cx="4937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Low-fi + high-fi Figma prototype
</a:t>
            </a: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conversation flow incl. error &amp; empty states</a:t>
            </a:r>
            <a:endParaRPr lang="en-US" sz="1250" dirty="0"/>
          </a:p>
        </p:txBody>
      </p:sp>
      <p:sp>
        <p:nvSpPr>
          <p:cNvPr id="19" name="Shape 18">
            <a:extLst>
              <a:ext uri="{FF2B5EF4-FFF2-40B4-BE49-F238E27FC236}">
                <a16:creationId xmlns:a16="http://schemas.microsoft.com/office/drawing/2014/main" id="{C4906B15-1B23-35E9-53CA-D5A8CF4B4385}"/>
              </a:ext>
            </a:extLst>
          </p:cNvPr>
          <p:cNvSpPr/>
          <p:nvPr/>
        </p:nvSpPr>
        <p:spPr>
          <a:xfrm>
            <a:off x="502920" y="4279392"/>
            <a:ext cx="310896" cy="310896"/>
          </a:xfrm>
          <a:prstGeom prst="ellipse">
            <a:avLst/>
          </a:prstGeom>
          <a:solidFill>
            <a:srgbClr val="2E7D5B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23" name="Text 19">
            <a:extLst>
              <a:ext uri="{FF2B5EF4-FFF2-40B4-BE49-F238E27FC236}">
                <a16:creationId xmlns:a16="http://schemas.microsoft.com/office/drawing/2014/main" id="{7B562753-F73E-5F66-B29B-45ADB07E3D4A}"/>
              </a:ext>
            </a:extLst>
          </p:cNvPr>
          <p:cNvSpPr txBox="1"/>
          <p:nvPr/>
        </p:nvSpPr>
        <p:spPr>
          <a:xfrm>
            <a:off x="502920" y="42793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5" name="Text 20">
            <a:extLst>
              <a:ext uri="{FF2B5EF4-FFF2-40B4-BE49-F238E27FC236}">
                <a16:creationId xmlns:a16="http://schemas.microsoft.com/office/drawing/2014/main" id="{28041A6E-5C58-9A9F-9432-389F8536F66E}"/>
              </a:ext>
            </a:extLst>
          </p:cNvPr>
          <p:cNvSpPr txBox="1"/>
          <p:nvPr/>
        </p:nvSpPr>
        <p:spPr>
          <a:xfrm>
            <a:off x="941832" y="4197096"/>
            <a:ext cx="4937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Flight-data API proof of concept
</a:t>
            </a: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Airlabs — live-tested on real flight VJ82</a:t>
            </a:r>
            <a:endParaRPr lang="en-US" sz="1250" dirty="0"/>
          </a:p>
        </p:txBody>
      </p:sp>
      <p:sp>
        <p:nvSpPr>
          <p:cNvPr id="27" name="Shape 21">
            <a:extLst>
              <a:ext uri="{FF2B5EF4-FFF2-40B4-BE49-F238E27FC236}">
                <a16:creationId xmlns:a16="http://schemas.microsoft.com/office/drawing/2014/main" id="{BDF92934-E886-FF0D-6335-D44D8E26B302}"/>
              </a:ext>
            </a:extLst>
          </p:cNvPr>
          <p:cNvSpPr/>
          <p:nvPr/>
        </p:nvSpPr>
        <p:spPr>
          <a:xfrm>
            <a:off x="6217920" y="4279392"/>
            <a:ext cx="310896" cy="310896"/>
          </a:xfrm>
          <a:prstGeom prst="ellipse">
            <a:avLst/>
          </a:prstGeom>
          <a:solidFill>
            <a:srgbClr val="2E7D5B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29" name="Text 22">
            <a:extLst>
              <a:ext uri="{FF2B5EF4-FFF2-40B4-BE49-F238E27FC236}">
                <a16:creationId xmlns:a16="http://schemas.microsoft.com/office/drawing/2014/main" id="{6542F128-1735-0474-1EEF-B32C00966424}"/>
              </a:ext>
            </a:extLst>
          </p:cNvPr>
          <p:cNvSpPr txBox="1"/>
          <p:nvPr/>
        </p:nvSpPr>
        <p:spPr>
          <a:xfrm>
            <a:off x="6217920" y="42793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31" name="Text 23">
            <a:extLst>
              <a:ext uri="{FF2B5EF4-FFF2-40B4-BE49-F238E27FC236}">
                <a16:creationId xmlns:a16="http://schemas.microsoft.com/office/drawing/2014/main" id="{AE1998C7-96E1-8BA4-7ECB-3129A0DD3FFA}"/>
              </a:ext>
            </a:extLst>
          </p:cNvPr>
          <p:cNvSpPr txBox="1"/>
          <p:nvPr/>
        </p:nvSpPr>
        <p:spPr>
          <a:xfrm>
            <a:off x="6656832" y="4197096"/>
            <a:ext cx="4937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Hotel/booking provider research
</a:t>
            </a: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StayingAPI selected, live-tested with real accessibility data</a:t>
            </a:r>
            <a:endParaRPr lang="en-US" sz="1250" dirty="0"/>
          </a:p>
        </p:txBody>
      </p:sp>
      <p:sp>
        <p:nvSpPr>
          <p:cNvPr id="37" name="Shape 24">
            <a:extLst>
              <a:ext uri="{FF2B5EF4-FFF2-40B4-BE49-F238E27FC236}">
                <a16:creationId xmlns:a16="http://schemas.microsoft.com/office/drawing/2014/main" id="{761FF7AD-DF06-AE8E-763B-552E403288AC}"/>
              </a:ext>
            </a:extLst>
          </p:cNvPr>
          <p:cNvSpPr/>
          <p:nvPr/>
        </p:nvSpPr>
        <p:spPr>
          <a:xfrm>
            <a:off x="502920" y="5193792"/>
            <a:ext cx="310896" cy="310896"/>
          </a:xfrm>
          <a:prstGeom prst="ellipse">
            <a:avLst/>
          </a:prstGeom>
          <a:solidFill>
            <a:srgbClr val="2E7D5B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40" name="Text 25">
            <a:extLst>
              <a:ext uri="{FF2B5EF4-FFF2-40B4-BE49-F238E27FC236}">
                <a16:creationId xmlns:a16="http://schemas.microsoft.com/office/drawing/2014/main" id="{ABAD2122-0BB1-0F7A-CE56-0C27366C4B7E}"/>
              </a:ext>
            </a:extLst>
          </p:cNvPr>
          <p:cNvSpPr txBox="1"/>
          <p:nvPr/>
        </p:nvSpPr>
        <p:spPr>
          <a:xfrm>
            <a:off x="502920" y="51937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44" name="Text 26">
            <a:extLst>
              <a:ext uri="{FF2B5EF4-FFF2-40B4-BE49-F238E27FC236}">
                <a16:creationId xmlns:a16="http://schemas.microsoft.com/office/drawing/2014/main" id="{415AF09B-3532-03A4-81B7-58F305E93E79}"/>
              </a:ext>
            </a:extLst>
          </p:cNvPr>
          <p:cNvSpPr txBox="1"/>
          <p:nvPr/>
        </p:nvSpPr>
        <p:spPr>
          <a:xfrm>
            <a:off x="941832" y="5111496"/>
            <a:ext cx="4937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Pinecone retrieval research
</a:t>
            </a: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 logic to Groq/OpenAI documented</a:t>
            </a:r>
            <a:endParaRPr lang="en-US" sz="1250" dirty="0"/>
          </a:p>
        </p:txBody>
      </p:sp>
      <p:sp>
        <p:nvSpPr>
          <p:cNvPr id="47" name="Shape 27">
            <a:extLst>
              <a:ext uri="{FF2B5EF4-FFF2-40B4-BE49-F238E27FC236}">
                <a16:creationId xmlns:a16="http://schemas.microsoft.com/office/drawing/2014/main" id="{0F33CD9B-07D0-3EAF-1EBA-89DDFED6AE52}"/>
              </a:ext>
            </a:extLst>
          </p:cNvPr>
          <p:cNvSpPr/>
          <p:nvPr/>
        </p:nvSpPr>
        <p:spPr>
          <a:xfrm>
            <a:off x="6217920" y="5193792"/>
            <a:ext cx="310896" cy="310896"/>
          </a:xfrm>
          <a:prstGeom prst="ellipse">
            <a:avLst/>
          </a:prstGeom>
          <a:solidFill>
            <a:srgbClr val="2E7D5B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49" name="Text 28">
            <a:extLst>
              <a:ext uri="{FF2B5EF4-FFF2-40B4-BE49-F238E27FC236}">
                <a16:creationId xmlns:a16="http://schemas.microsoft.com/office/drawing/2014/main" id="{B4E56B62-8815-0F94-E9C8-ABA3EE36D32F}"/>
              </a:ext>
            </a:extLst>
          </p:cNvPr>
          <p:cNvSpPr txBox="1"/>
          <p:nvPr/>
        </p:nvSpPr>
        <p:spPr>
          <a:xfrm>
            <a:off x="6217920" y="51937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51" name="Text 29">
            <a:extLst>
              <a:ext uri="{FF2B5EF4-FFF2-40B4-BE49-F238E27FC236}">
                <a16:creationId xmlns:a16="http://schemas.microsoft.com/office/drawing/2014/main" id="{441AE489-65ED-059D-AF99-15C32A95DA3D}"/>
              </a:ext>
            </a:extLst>
          </p:cNvPr>
          <p:cNvSpPr txBox="1"/>
          <p:nvPr/>
        </p:nvSpPr>
        <p:spPr>
          <a:xfrm>
            <a:off x="6656832" y="5111496"/>
            <a:ext cx="4937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review session (4 Sept)
</a:t>
            </a: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formally signed off</a:t>
            </a:r>
            <a:endParaRPr lang="en-US" sz="1250" dirty="0"/>
          </a:p>
        </p:txBody>
      </p:sp>
      <p:sp>
        <p:nvSpPr>
          <p:cNvPr id="41" name="Shape 12">
            <a:extLst>
              <a:ext uri="{FF2B5EF4-FFF2-40B4-BE49-F238E27FC236}">
                <a16:creationId xmlns:a16="http://schemas.microsoft.com/office/drawing/2014/main" id="{EF09321A-992A-9D3C-45E7-B8DEBBB5C19C}"/>
              </a:ext>
            </a:extLst>
          </p:cNvPr>
          <p:cNvSpPr/>
          <p:nvPr/>
        </p:nvSpPr>
        <p:spPr>
          <a:xfrm>
            <a:off x="502920" y="3364992"/>
            <a:ext cx="310896" cy="310896"/>
          </a:xfrm>
          <a:prstGeom prst="ellipse">
            <a:avLst/>
          </a:prstGeom>
          <a:solidFill>
            <a:srgbClr val="2E7D5B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43" name="Text 13">
            <a:extLst>
              <a:ext uri="{FF2B5EF4-FFF2-40B4-BE49-F238E27FC236}">
                <a16:creationId xmlns:a16="http://schemas.microsoft.com/office/drawing/2014/main" id="{CB185AD5-A570-6A58-1919-65AF257A068C}"/>
              </a:ext>
            </a:extLst>
          </p:cNvPr>
          <p:cNvSpPr txBox="1"/>
          <p:nvPr/>
        </p:nvSpPr>
        <p:spPr>
          <a:xfrm>
            <a:off x="502920" y="33649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46" name="Text 14">
            <a:extLst>
              <a:ext uri="{FF2B5EF4-FFF2-40B4-BE49-F238E27FC236}">
                <a16:creationId xmlns:a16="http://schemas.microsoft.com/office/drawing/2014/main" id="{58D564DA-809D-674F-78FC-D8725B8FA9A8}"/>
              </a:ext>
            </a:extLst>
          </p:cNvPr>
          <p:cNvSpPr txBox="1"/>
          <p:nvPr/>
        </p:nvSpPr>
        <p:spPr>
          <a:xfrm>
            <a:off x="941832" y="3282696"/>
            <a:ext cx="4937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Revised requirements doc
</a:t>
            </a: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flight/destination → route, aircraft, accessibility match, hotel suggestion</a:t>
            </a:r>
            <a:endParaRPr lang="en-US" sz="1250" dirty="0"/>
          </a:p>
        </p:txBody>
      </p:sp>
    </p:spTree>
    <p:extLst>
      <p:ext uri="{BB962C8B-B14F-4D97-AF65-F5344CB8AC3E}">
        <p14:creationId xmlns:p14="http://schemas.microsoft.com/office/powerpoint/2010/main" val="333890880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2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1 PLAYBACK  ·  SLIDE 4 OF 7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111858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 Matters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3520440" cy="2834640"/>
          </a:xfrm>
          <a:prstGeom prst="roundRect">
            <a:avLst>
              <a:gd name="adj" fmla="val 3226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5" name="Text 3"/>
          <p:cNvSpPr txBox="1"/>
          <p:nvPr/>
        </p:nvSpPr>
        <p:spPr>
          <a:xfrm>
            <a:off x="777240" y="187452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2A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the traveler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423160"/>
            <a:ext cx="2971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lnSpc>
                <a:spcPct val="120000"/>
              </a:lnSpc>
              <a:buFontTx/>
              <a:buChar char="-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Compatible aircraft and accessibility-vetted hotels, from one search</a:t>
            </a:r>
          </a:p>
          <a:p>
            <a:pPr marL="285750" indent="-285750">
              <a:lnSpc>
                <a:spcPct val="120000"/>
              </a:lnSpc>
              <a:buFontTx/>
              <a:buChar char="-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Replaces hours of research across separate sites</a:t>
            </a:r>
          </a:p>
        </p:txBody>
      </p:sp>
      <p:sp>
        <p:nvSpPr>
          <p:cNvPr id="7" name="Shape 5"/>
          <p:cNvSpPr/>
          <p:nvPr/>
        </p:nvSpPr>
        <p:spPr>
          <a:xfrm>
            <a:off x="4251960" y="1600200"/>
            <a:ext cx="3520440" cy="2834640"/>
          </a:xfrm>
          <a:prstGeom prst="roundRect">
            <a:avLst>
              <a:gd name="adj" fmla="val 3226"/>
            </a:avLst>
          </a:prstGeom>
          <a:solidFill>
            <a:srgbClr val="0B3D5C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8" name="Text 6"/>
          <p:cNvSpPr txBox="1"/>
          <p:nvPr/>
        </p:nvSpPr>
        <p:spPr>
          <a:xfrm>
            <a:off x="4526280" y="187452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2A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the client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4526280" y="2423160"/>
            <a:ext cx="2971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lnSpc>
                <a:spcPct val="120000"/>
              </a:lnSpc>
              <a:buFontTx/>
              <a:buChar char="-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Replaces a staff-only feature with one their users feel</a:t>
            </a:r>
          </a:p>
          <a:p>
            <a:pPr marL="285750" indent="-285750">
              <a:lnSpc>
                <a:spcPct val="120000"/>
              </a:lnSpc>
              <a:buFontTx/>
              <a:buChar char="-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assistant spanning flight, aircraft, and destination accessibility</a:t>
            </a:r>
          </a:p>
        </p:txBody>
      </p:sp>
      <p:sp>
        <p:nvSpPr>
          <p:cNvPr id="10" name="Shape 8"/>
          <p:cNvSpPr/>
          <p:nvPr/>
        </p:nvSpPr>
        <p:spPr>
          <a:xfrm>
            <a:off x="8001000" y="1600200"/>
            <a:ext cx="3520440" cy="2834640"/>
          </a:xfrm>
          <a:prstGeom prst="roundRect">
            <a:avLst>
              <a:gd name="adj" fmla="val 3226"/>
            </a:avLst>
          </a:prstGeom>
          <a:solidFill>
            <a:srgbClr val="16577A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1" name="Text 9"/>
          <p:cNvSpPr txBox="1"/>
          <p:nvPr/>
        </p:nvSpPr>
        <p:spPr>
          <a:xfrm>
            <a:off x="8275320" y="187452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2A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the project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8275320" y="2423160"/>
            <a:ext cx="2971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lnSpc>
                <a:spcPct val="100000"/>
              </a:lnSpc>
              <a:buFontTx/>
              <a:buChar char="-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Upgrades YAF's chatbot from static Q&amp;A</a:t>
            </a:r>
          </a:p>
          <a:p>
            <a:pPr marL="285750" indent="-285750">
              <a:lnSpc>
                <a:spcPct val="100000"/>
              </a:lnSpc>
              <a:buFontTx/>
              <a:buChar char="-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 flights, routes, accessibility and hotels.</a:t>
            </a:r>
          </a:p>
        </p:txBody>
      </p:sp>
      <p:sp>
        <p:nvSpPr>
          <p:cNvPr id="13" name="Shape 11"/>
          <p:cNvSpPr/>
          <p:nvPr/>
        </p:nvSpPr>
        <p:spPr>
          <a:xfrm>
            <a:off x="502920" y="4709160"/>
            <a:ext cx="11185855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CE4EA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4" name="Shape 12"/>
          <p:cNvSpPr/>
          <p:nvPr/>
        </p:nvSpPr>
        <p:spPr>
          <a:xfrm>
            <a:off x="777240" y="5006340"/>
            <a:ext cx="457200" cy="457200"/>
          </a:xfrm>
          <a:prstGeom prst="ellipse">
            <a:avLst/>
          </a:prstGeom>
          <a:solidFill>
            <a:srgbClr val="2E7D5B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5" name="Text 13"/>
          <p:cNvSpPr txBox="1"/>
          <p:nvPr/>
        </p:nvSpPr>
        <p:spPr>
          <a:xfrm>
            <a:off x="777240" y="50063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1417320" y="4709160"/>
            <a:ext cx="999713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sign-off secured. </a:t>
            </a: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4 September the client confirmed the pivot and the Sprint 2 integration scope: one flight-data source, one hotel/accessibility system, one excursion example and one transfer example.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35 | A  —  AI Travel Assistant Chatbot for Your Accessible Flight (YAF)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1132301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50" dirty="0"/>
          </a:p>
        </p:txBody>
      </p:sp>
      <p:pic>
        <p:nvPicPr>
          <p:cNvPr id="31" name="Picture 30" descr="Chatbot Icon SVG Vector &amp; PNG Free Download | UXWing">
            <a:extLst>
              <a:ext uri="{FF2B5EF4-FFF2-40B4-BE49-F238E27FC236}">
                <a16:creationId xmlns:a16="http://schemas.microsoft.com/office/drawing/2014/main" id="{D74666F7-D43D-E7AE-B311-431A6B18D21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0664238" y="3594354"/>
            <a:ext cx="720042" cy="703326"/>
          </a:xfrm>
          <a:prstGeom prst="rect">
            <a:avLst/>
          </a:prstGeom>
        </p:spPr>
      </p:pic>
      <p:pic>
        <p:nvPicPr>
          <p:cNvPr id="32" name="Picture 31" descr="Drawing Airplane Logo - Airplane Clipart Transparent Background (875x875), Png Download">
            <a:extLst>
              <a:ext uri="{FF2B5EF4-FFF2-40B4-BE49-F238E27FC236}">
                <a16:creationId xmlns:a16="http://schemas.microsoft.com/office/drawing/2014/main" id="{8BD9DDF6-818D-33DE-A5C9-B33C99AE695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6541663" y="3456729"/>
            <a:ext cx="1078397" cy="1078397"/>
          </a:xfrm>
          <a:prstGeom prst="rect">
            <a:avLst/>
          </a:prstGeom>
        </p:spPr>
      </p:pic>
      <p:pic>
        <p:nvPicPr>
          <p:cNvPr id="34" name="Picture 33" descr="Handicap Wheelchair Icon SVG Vector &amp; PNG Free Download | UXWing">
            <a:extLst>
              <a:ext uri="{FF2B5EF4-FFF2-40B4-BE49-F238E27FC236}">
                <a16:creationId xmlns:a16="http://schemas.microsoft.com/office/drawing/2014/main" id="{0733A8AD-46BA-8342-2126-8FE77697917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3264898" y="3554731"/>
            <a:ext cx="578507" cy="74294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2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1 PLAYBACK  ·  SLIDE 5 OF 7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111858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Blockers &amp; Open Questions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417320"/>
            <a:ext cx="11185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honest account of what's unresolved heading into Sprint 2 — and our plan for each.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920240"/>
            <a:ext cx="539496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CE4EA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" name="Shape 4"/>
          <p:cNvSpPr/>
          <p:nvPr/>
        </p:nvSpPr>
        <p:spPr>
          <a:xfrm>
            <a:off x="731520" y="2121408"/>
            <a:ext cx="365760" cy="365760"/>
          </a:xfrm>
          <a:prstGeom prst="ellipse">
            <a:avLst/>
          </a:prstGeom>
          <a:solidFill>
            <a:srgbClr val="B4552F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7" name="Text 5"/>
          <p:cNvSpPr txBox="1"/>
          <p:nvPr/>
        </p:nvSpPr>
        <p:spPr>
          <a:xfrm>
            <a:off x="731520" y="21214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2093976"/>
            <a:ext cx="4434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Shared API quota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260604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Flight-data free tier is 600 units/month, 1 req/sec, shared across the whole team — could constrain live testing close to demos.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3493008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Plan:  </a:t>
            </a: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usage during dev; ration test calls ahead of Sprint 2 demo.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17920" y="1920240"/>
            <a:ext cx="539496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CE4EA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2" name="Shape 10"/>
          <p:cNvSpPr/>
          <p:nvPr/>
        </p:nvSpPr>
        <p:spPr>
          <a:xfrm>
            <a:off x="6446520" y="2121408"/>
            <a:ext cx="365760" cy="365760"/>
          </a:xfrm>
          <a:prstGeom prst="ellipse">
            <a:avLst/>
          </a:prstGeom>
          <a:solidFill>
            <a:srgbClr val="B4552F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3" name="Text 11"/>
          <p:cNvSpPr txBox="1"/>
          <p:nvPr/>
        </p:nvSpPr>
        <p:spPr>
          <a:xfrm>
            <a:off x="6446520" y="21214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6949440" y="2093976"/>
            <a:ext cx="4434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Trip/session data model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6446520" y="260604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Unconfirmed whether an existing YAF trip/session model exists to attach external services to, or whether this project defines one.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6446520" y="3493008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Plan:  </a:t>
            </a: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Flagged to client; confirm before Sprint 2 build starts.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02920" y="4224528"/>
            <a:ext cx="539496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CE4EA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8" name="Shape 16"/>
          <p:cNvSpPr/>
          <p:nvPr/>
        </p:nvSpPr>
        <p:spPr>
          <a:xfrm>
            <a:off x="731520" y="4425696"/>
            <a:ext cx="365760" cy="365760"/>
          </a:xfrm>
          <a:prstGeom prst="ellipse">
            <a:avLst/>
          </a:prstGeom>
          <a:solidFill>
            <a:srgbClr val="B4552F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9" name="Text 17"/>
          <p:cNvSpPr txBox="1"/>
          <p:nvPr/>
        </p:nvSpPr>
        <p:spPr>
          <a:xfrm>
            <a:off x="731520" y="44256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1234440" y="4398264"/>
            <a:ext cx="4434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Hotel provider narrowing</a:t>
            </a:r>
            <a:endParaRPr lang="en-US" sz="1450" dirty="0"/>
          </a:p>
        </p:txBody>
      </p:sp>
      <p:sp>
        <p:nvSpPr>
          <p:cNvPr id="21" name="Text 19"/>
          <p:cNvSpPr txBox="1"/>
          <p:nvPr/>
        </p:nvSpPr>
        <p:spPr>
          <a:xfrm>
            <a:off x="731520" y="4910328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5 hotel/booking sources compared, only the “booking” platform proved reliable — airbnb, vrbo and google were unreliable or unavailable.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731520" y="5797296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Plan:  </a:t>
            </a: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Proceed with booking-only source for Sprint 2; revisit if coverage gaps appear.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217920" y="4224528"/>
            <a:ext cx="539496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CE4EA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4" name="Shape 22"/>
          <p:cNvSpPr/>
          <p:nvPr/>
        </p:nvSpPr>
        <p:spPr>
          <a:xfrm>
            <a:off x="6446520" y="4425696"/>
            <a:ext cx="365760" cy="365760"/>
          </a:xfrm>
          <a:prstGeom prst="ellipse">
            <a:avLst/>
          </a:prstGeom>
          <a:solidFill>
            <a:srgbClr val="B4552F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25" name="Text 23"/>
          <p:cNvSpPr txBox="1"/>
          <p:nvPr/>
        </p:nvSpPr>
        <p:spPr>
          <a:xfrm>
            <a:off x="6446520" y="44256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6949440" y="4398264"/>
            <a:ext cx="4434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AI model for the chatbot?</a:t>
            </a:r>
            <a:endParaRPr lang="en-US" sz="1450" dirty="0"/>
          </a:p>
        </p:txBody>
      </p:sp>
      <p:sp>
        <p:nvSpPr>
          <p:cNvPr id="27" name="Text 25"/>
          <p:cNvSpPr txBox="1"/>
          <p:nvPr/>
        </p:nvSpPr>
        <p:spPr>
          <a:xfrm>
            <a:off x="6446520" y="4910328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5000"/>
              </a:lnSpc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Pinecone supports multiple embedding/generation models — the client hasn't settled on which one to standardize on for retrieval and response quality.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6446520" y="5797296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Plan:  </a:t>
            </a: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Trial the top 2 candidates against sample queries; confirm choice with client before Sprint 2 build.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35 | A  —  AI Travel Assistant Chatbot for Your Accessible Flight (YAF)</a:t>
            </a:r>
            <a:endParaRPr lang="en-US" sz="950" dirty="0"/>
          </a:p>
        </p:txBody>
      </p:sp>
      <p:sp>
        <p:nvSpPr>
          <p:cNvPr id="30" name="Text 28"/>
          <p:cNvSpPr txBox="1"/>
          <p:nvPr/>
        </p:nvSpPr>
        <p:spPr>
          <a:xfrm>
            <a:off x="1132301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5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2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1 PLAYBACK  ·  SLIDE 6 OF 7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111858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Task Allocation &amp; Time Spent — Week 1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417320"/>
            <a:ext cx="11185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5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 logged Planner records for Sprint 1 Week 1 — 5 tasks, one per member, each closed with a Done / Deliverable handoff.</a:t>
            </a:r>
            <a:endParaRPr lang="en-US" sz="13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3160336"/>
              </p:ext>
            </p:extLst>
          </p:nvPr>
        </p:nvGraphicFramePr>
        <p:xfrm>
          <a:off x="502920" y="1965960"/>
          <a:ext cx="10424160" cy="3291840"/>
        </p:xfrm>
        <a:graphic>
          <a:graphicData uri="http://schemas.openxmlformats.org/drawingml/2006/table">
            <a:tbl>
              <a:tblPr/>
              <a:tblGrid>
                <a:gridCol w="2331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35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Member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Tasks this week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Hours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3D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Daniel Francisco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 status update &amp; follow-up agenda after second client call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3D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Wen Bin Liang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Drafted initial requirements for the Staff QR Scan flow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3D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Ryan Lim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Wireframed the QR scan flow (scan, results &amp; error states)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3D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Khanh Nguyen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Stood up the Firebase web server &amp; database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3D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Aindrila Das Prapti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Researched wheelchair/aircraft-door compatibility standards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02920" y="5806440"/>
            <a:ext cx="11185855" cy="502920"/>
          </a:xfrm>
          <a:prstGeom prst="roundRect">
            <a:avLst>
              <a:gd name="adj" fmla="val 14545"/>
            </a:avLst>
          </a:prstGeom>
          <a:solidFill>
            <a:srgbClr val="EEF3F6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5" name="Text 4"/>
          <p:cNvSpPr txBox="1"/>
          <p:nvPr/>
        </p:nvSpPr>
        <p:spPr>
          <a:xfrm>
            <a:off x="731520" y="5806440"/>
            <a:ext cx="107286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5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Total: </a:t>
            </a:r>
            <a:r>
              <a:rPr lang="en-US" sz="12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hours across 5 members  •  5/5 tasks Done  •  one task per member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35 | A  —  AI Travel Assistant Chatbot for Your Accessible Flight (YAF)</a:t>
            </a:r>
            <a:endParaRPr lang="en-US" sz="950" dirty="0"/>
          </a:p>
        </p:txBody>
      </p:sp>
      <p:sp>
        <p:nvSpPr>
          <p:cNvPr id="9" name="Text 6"/>
          <p:cNvSpPr txBox="1"/>
          <p:nvPr/>
        </p:nvSpPr>
        <p:spPr>
          <a:xfrm>
            <a:off x="1132301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5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99AEC4E-54FE-7B55-C412-09552586CA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AE73283D-8384-0E3A-79B1-C3EF7FEAC0E1}"/>
              </a:ext>
            </a:extLst>
          </p:cNvPr>
          <p:cNvSpPr txBox="1"/>
          <p:nvPr/>
        </p:nvSpPr>
        <p:spPr>
          <a:xfrm>
            <a:off x="502920" y="2926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2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1 PLAYBACK  ·  SLIDE 6 OF 7</a:t>
            </a:r>
            <a:endParaRPr lang="en-US" sz="105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5E99885-9172-7333-35EF-C488FE8D40C9}"/>
              </a:ext>
            </a:extLst>
          </p:cNvPr>
          <p:cNvSpPr txBox="1"/>
          <p:nvPr/>
        </p:nvSpPr>
        <p:spPr>
          <a:xfrm>
            <a:off x="502920" y="566928"/>
            <a:ext cx="111858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Task Allocation &amp; Time Spent — Week 2 </a:t>
            </a:r>
            <a:endParaRPr lang="en-US" sz="32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ABA502D-D062-B7BD-D9B0-C3534A5380BF}"/>
              </a:ext>
            </a:extLst>
          </p:cNvPr>
          <p:cNvSpPr txBox="1"/>
          <p:nvPr/>
        </p:nvSpPr>
        <p:spPr>
          <a:xfrm>
            <a:off x="502920" y="1417320"/>
            <a:ext cx="11185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5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 logged Planner records for Sprint 1 Week 2 — 9 tasks, every role cleared its hours on a completed task.</a:t>
            </a:r>
            <a:endParaRPr lang="en-US" sz="1350" dirty="0"/>
          </a:p>
        </p:txBody>
      </p:sp>
      <p:graphicFrame>
        <p:nvGraphicFramePr>
          <p:cNvPr id="7" name="Table 0">
            <a:extLst>
              <a:ext uri="{FF2B5EF4-FFF2-40B4-BE49-F238E27FC236}">
                <a16:creationId xmlns:a16="http://schemas.microsoft.com/office/drawing/2014/main" id="{DB5B6B21-31E2-EC15-387B-6723CB8B9B12}"/>
              </a:ext>
            </a:extLst>
          </p:cNvPr>
          <p:cNvGraphicFramePr>
            <a:graphicFrameLocks noGrp="1"/>
          </p:cNvGraphicFramePr>
          <p:nvPr/>
        </p:nvGraphicFramePr>
        <p:xfrm>
          <a:off x="502920" y="1965960"/>
          <a:ext cx="10424160" cy="3291840"/>
        </p:xfrm>
        <a:graphic>
          <a:graphicData uri="http://schemas.openxmlformats.org/drawingml/2006/table">
            <a:tbl>
              <a:tblPr/>
              <a:tblGrid>
                <a:gridCol w="2331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35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Member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Tasks this week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Hours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3D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Daniel Francisco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Revised requirements doc; coordinated client review session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3D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Wen Bin Liang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Flight-data &amp; hotel provider research; acceptance criteria doc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3D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Ryan Lim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Low-fidelity wireframes; high-fidelity Figma prototype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3D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Khanh Nguyen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Tech-stack &amp; schema review; flight-data API proof of concept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3D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Aindrila Das Prapti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Pinecone retrieval &amp; fallback-logic research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Shape 3">
            <a:extLst>
              <a:ext uri="{FF2B5EF4-FFF2-40B4-BE49-F238E27FC236}">
                <a16:creationId xmlns:a16="http://schemas.microsoft.com/office/drawing/2014/main" id="{B8AC485D-B66A-1F97-7734-C2BC87F4819C}"/>
              </a:ext>
            </a:extLst>
          </p:cNvPr>
          <p:cNvSpPr/>
          <p:nvPr/>
        </p:nvSpPr>
        <p:spPr>
          <a:xfrm>
            <a:off x="502920" y="5806440"/>
            <a:ext cx="11185855" cy="502920"/>
          </a:xfrm>
          <a:prstGeom prst="roundRect">
            <a:avLst>
              <a:gd name="adj" fmla="val 14545"/>
            </a:avLst>
          </a:prstGeom>
          <a:solidFill>
            <a:srgbClr val="EEF3F6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5" name="Text 4">
            <a:extLst>
              <a:ext uri="{FF2B5EF4-FFF2-40B4-BE49-F238E27FC236}">
                <a16:creationId xmlns:a16="http://schemas.microsoft.com/office/drawing/2014/main" id="{7DE03C81-8A02-0E10-2EB8-F4CD05A26A57}"/>
              </a:ext>
            </a:extLst>
          </p:cNvPr>
          <p:cNvSpPr txBox="1"/>
          <p:nvPr/>
        </p:nvSpPr>
        <p:spPr>
          <a:xfrm>
            <a:off x="731520" y="5806440"/>
            <a:ext cx="107286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Total: </a:t>
            </a:r>
            <a:r>
              <a:rPr lang="en-US" sz="12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hours logged across 5 members  •  9/9 tasks Done  •  workload evenly distributed at 4h each</a:t>
            </a:r>
            <a:endParaRPr lang="en-US" sz="1250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A854665A-B927-0625-4CD2-0AC889437924}"/>
              </a:ext>
            </a:extLst>
          </p:cNvPr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35 | A  —  AI Travel Assistant Chatbot for Your Accessible Flight (YAF)</a:t>
            </a:r>
            <a:endParaRPr lang="en-US" sz="950" dirty="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5633FD4F-BD1E-5A03-DCCB-6CC14D5AF243}"/>
              </a:ext>
            </a:extLst>
          </p:cNvPr>
          <p:cNvSpPr txBox="1"/>
          <p:nvPr/>
        </p:nvSpPr>
        <p:spPr>
          <a:xfrm>
            <a:off x="1132301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50" dirty="0"/>
          </a:p>
        </p:txBody>
      </p:sp>
    </p:spTree>
    <p:extLst>
      <p:ext uri="{BB962C8B-B14F-4D97-AF65-F5344CB8AC3E}">
        <p14:creationId xmlns:p14="http://schemas.microsoft.com/office/powerpoint/2010/main" val="216223497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A5FE8A-38A6-1CB9-3363-8ED424D414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ED57364-37C4-0BFD-BFEA-5C20FC68F844}"/>
              </a:ext>
            </a:extLst>
          </p:cNvPr>
          <p:cNvSpPr txBox="1"/>
          <p:nvPr/>
        </p:nvSpPr>
        <p:spPr>
          <a:xfrm>
            <a:off x="502920" y="2926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2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1 PLAYBACK  ·  SLIDE 6 OF 7</a:t>
            </a:r>
            <a:endParaRPr lang="en-US" sz="105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3EA99495-D470-360D-8AEE-FCC42A5A9F44}"/>
              </a:ext>
            </a:extLst>
          </p:cNvPr>
          <p:cNvSpPr txBox="1"/>
          <p:nvPr/>
        </p:nvSpPr>
        <p:spPr>
          <a:xfrm>
            <a:off x="502920" y="566928"/>
            <a:ext cx="111858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Task Allocation &amp; Time Spent — Week 3</a:t>
            </a:r>
            <a:endParaRPr lang="en-US" sz="32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CD4070D8-F9A7-15C5-47E5-422E39430ADE}"/>
              </a:ext>
            </a:extLst>
          </p:cNvPr>
          <p:cNvSpPr txBox="1"/>
          <p:nvPr/>
        </p:nvSpPr>
        <p:spPr>
          <a:xfrm>
            <a:off x="502920" y="1417320"/>
            <a:ext cx="11185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5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 the current Planner board </a:t>
            </a:r>
            <a:r>
              <a:rPr lang="en-US" sz="135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r>
              <a:rPr lang="en-US" sz="135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1 Week 3 — 5 tasks assigned for Week 3, one per member, budgeted at 4h each.</a:t>
            </a:r>
            <a:endParaRPr lang="en-US" sz="1350" dirty="0"/>
          </a:p>
        </p:txBody>
      </p:sp>
      <p:graphicFrame>
        <p:nvGraphicFramePr>
          <p:cNvPr id="7" name="Table 0">
            <a:extLst>
              <a:ext uri="{FF2B5EF4-FFF2-40B4-BE49-F238E27FC236}">
                <a16:creationId xmlns:a16="http://schemas.microsoft.com/office/drawing/2014/main" id="{070E80F1-F843-9CE0-D52E-4917C3AFDA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4820231"/>
              </p:ext>
            </p:extLst>
          </p:nvPr>
        </p:nvGraphicFramePr>
        <p:xfrm>
          <a:off x="502920" y="1965960"/>
          <a:ext cx="10424160" cy="3291840"/>
        </p:xfrm>
        <a:graphic>
          <a:graphicData uri="http://schemas.openxmlformats.org/drawingml/2006/table">
            <a:tbl>
              <a:tblPr/>
              <a:tblGrid>
                <a:gridCol w="2331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35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Member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Planned task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Hours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3D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Daniel Francisco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Finalise Sprint 1 deliverables &amp; run Sprint 1 playback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3D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Wen Bin Liang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Stress-test data schema against edge cases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3D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Ryan Lim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Finalise prototype based on client feedback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3D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Khanh Nguyen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Finalise infrastructure for Sprint 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3D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Aindrila Das Prapti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Hotel/booking API integration proof of concept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Shape 3">
            <a:extLst>
              <a:ext uri="{FF2B5EF4-FFF2-40B4-BE49-F238E27FC236}">
                <a16:creationId xmlns:a16="http://schemas.microsoft.com/office/drawing/2014/main" id="{5C6C87D8-37FA-C969-AC75-79476F19192B}"/>
              </a:ext>
            </a:extLst>
          </p:cNvPr>
          <p:cNvSpPr/>
          <p:nvPr/>
        </p:nvSpPr>
        <p:spPr>
          <a:xfrm>
            <a:off x="502920" y="5806440"/>
            <a:ext cx="11185855" cy="502920"/>
          </a:xfrm>
          <a:prstGeom prst="roundRect">
            <a:avLst>
              <a:gd name="adj" fmla="val 14545"/>
            </a:avLst>
          </a:prstGeom>
          <a:solidFill>
            <a:srgbClr val="EEF3F6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5" name="Text 4">
            <a:extLst>
              <a:ext uri="{FF2B5EF4-FFF2-40B4-BE49-F238E27FC236}">
                <a16:creationId xmlns:a16="http://schemas.microsoft.com/office/drawing/2014/main" id="{95595287-4BBA-A560-2DBC-41BEB33E564F}"/>
              </a:ext>
            </a:extLst>
          </p:cNvPr>
          <p:cNvSpPr txBox="1"/>
          <p:nvPr/>
        </p:nvSpPr>
        <p:spPr>
          <a:xfrm>
            <a:off x="731520" y="5806440"/>
            <a:ext cx="107286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5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Total: </a:t>
            </a:r>
            <a:r>
              <a:rPr lang="en-US" sz="12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hours budgeted across 5 members • In-progress</a:t>
            </a:r>
            <a:endParaRPr lang="en-US" sz="1250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6B22839D-835E-AFE7-4DF6-D51759C3BCB8}"/>
              </a:ext>
            </a:extLst>
          </p:cNvPr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35 | A  —  AI Travel Assistant Chatbot for Your Accessible Flight (YAF)</a:t>
            </a:r>
            <a:endParaRPr lang="en-US" sz="950" dirty="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AE654C3B-C74E-AE62-996E-783F1728C881}"/>
              </a:ext>
            </a:extLst>
          </p:cNvPr>
          <p:cNvSpPr txBox="1"/>
          <p:nvPr/>
        </p:nvSpPr>
        <p:spPr>
          <a:xfrm>
            <a:off x="1132301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50" dirty="0"/>
          </a:p>
        </p:txBody>
      </p:sp>
    </p:spTree>
    <p:extLst>
      <p:ext uri="{BB962C8B-B14F-4D97-AF65-F5344CB8AC3E}">
        <p14:creationId xmlns:p14="http://schemas.microsoft.com/office/powerpoint/2010/main" val="130823853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2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1 PLAYBACK  ·  SLIDE 7 OF 7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111858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Timeline &amp; Next Steps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463040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SPRINT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325880" y="2084832"/>
            <a:ext cx="0" cy="1234440"/>
          </a:xfrm>
          <a:prstGeom prst="line">
            <a:avLst/>
          </a:prstGeom>
          <a:noFill/>
          <a:ln w="25400">
            <a:solidFill>
              <a:srgbClr val="DCE4EA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" name="Shape 4"/>
          <p:cNvSpPr/>
          <p:nvPr/>
        </p:nvSpPr>
        <p:spPr>
          <a:xfrm>
            <a:off x="1179576" y="1920240"/>
            <a:ext cx="292608" cy="292608"/>
          </a:xfrm>
          <a:prstGeom prst="ellipse">
            <a:avLst/>
          </a:prstGeom>
          <a:solidFill>
            <a:srgbClr val="0B3D5C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7" name="Text 5"/>
          <p:cNvSpPr txBox="1"/>
          <p:nvPr/>
        </p:nvSpPr>
        <p:spPr>
          <a:xfrm>
            <a:off x="1179576" y="19202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645920" y="1874520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 1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1645920" y="2194560"/>
            <a:ext cx="4160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Kick-off with client; initial requirements drafted for Staff QR Scan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325880" y="3319272"/>
            <a:ext cx="0" cy="1234440"/>
          </a:xfrm>
          <a:prstGeom prst="line">
            <a:avLst/>
          </a:prstGeom>
          <a:noFill/>
          <a:ln w="25400">
            <a:solidFill>
              <a:srgbClr val="DCE4EA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1" name="Shape 9"/>
          <p:cNvSpPr/>
          <p:nvPr/>
        </p:nvSpPr>
        <p:spPr>
          <a:xfrm>
            <a:off x="1179576" y="3154680"/>
            <a:ext cx="292608" cy="292608"/>
          </a:xfrm>
          <a:prstGeom prst="ellipse">
            <a:avLst/>
          </a:prstGeom>
          <a:solidFill>
            <a:srgbClr val="0B3D5C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2" name="Text 10"/>
          <p:cNvSpPr txBox="1"/>
          <p:nvPr/>
        </p:nvSpPr>
        <p:spPr>
          <a:xfrm>
            <a:off x="1179576" y="31546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645920" y="3108960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Sept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1645920" y="3429000"/>
            <a:ext cx="4160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review session — pivot to AI Travel Assistant Chatbot confirmed &amp; signed off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325880" y="4553712"/>
            <a:ext cx="0" cy="0"/>
          </a:xfrm>
          <a:prstGeom prst="line">
            <a:avLst/>
          </a:prstGeom>
          <a:noFill/>
          <a:ln w="25400">
            <a:solidFill>
              <a:srgbClr val="DCE4EA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6" name="Shape 14"/>
          <p:cNvSpPr/>
          <p:nvPr/>
        </p:nvSpPr>
        <p:spPr>
          <a:xfrm>
            <a:off x="1179576" y="4389120"/>
            <a:ext cx="292608" cy="292608"/>
          </a:xfrm>
          <a:prstGeom prst="ellipse">
            <a:avLst/>
          </a:prstGeom>
          <a:solidFill>
            <a:srgbClr val="0B3D5C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7" name="Text 15"/>
          <p:cNvSpPr txBox="1"/>
          <p:nvPr/>
        </p:nvSpPr>
        <p:spPr>
          <a:xfrm>
            <a:off x="1179576" y="43891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645920" y="4343400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 2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1645920" y="4663440"/>
            <a:ext cx="4160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Flight-data &amp; hotel APIs selected and proof-of-concept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02920" y="5623560"/>
            <a:ext cx="5349240" cy="685800"/>
          </a:xfrm>
          <a:prstGeom prst="roundRect">
            <a:avLst>
              <a:gd name="adj" fmla="val 10667"/>
            </a:avLst>
          </a:prstGeom>
          <a:solidFill>
            <a:srgbClr val="EEF3F6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21" name="Text 19"/>
          <p:cNvSpPr txBox="1"/>
          <p:nvPr/>
        </p:nvSpPr>
        <p:spPr>
          <a:xfrm>
            <a:off x="731520" y="5623560"/>
            <a:ext cx="4892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1 close: </a:t>
            </a: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signed off, prototype validated, Sprint 2 scope confirmed with the client.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309360" y="1463040"/>
            <a:ext cx="5349240" cy="4846320"/>
          </a:xfrm>
          <a:prstGeom prst="roundRect">
            <a:avLst>
              <a:gd name="adj" fmla="val 1887"/>
            </a:avLst>
          </a:prstGeom>
          <a:solidFill>
            <a:srgbClr val="0B3D5C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23" name="Text 21"/>
          <p:cNvSpPr txBox="1"/>
          <p:nvPr/>
        </p:nvSpPr>
        <p:spPr>
          <a:xfrm>
            <a:off x="6583680" y="1691640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PROMISED — SPRINT 2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583680" y="2148840"/>
            <a:ext cx="310896" cy="310896"/>
          </a:xfrm>
          <a:prstGeom prst="ellipse">
            <a:avLst/>
          </a:prstGeom>
          <a:solidFill>
            <a:srgbClr val="F2A65A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25" name="Text 23"/>
          <p:cNvSpPr txBox="1"/>
          <p:nvPr/>
        </p:nvSpPr>
        <p:spPr>
          <a:xfrm>
            <a:off x="6583680" y="21488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7040880" y="2075688"/>
            <a:ext cx="4343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flight-lookup → aircraft-compatibility → hotel-suggestion flow end-to-end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583680" y="3044952"/>
            <a:ext cx="310896" cy="310896"/>
          </a:xfrm>
          <a:prstGeom prst="ellipse">
            <a:avLst/>
          </a:prstGeom>
          <a:solidFill>
            <a:srgbClr val="F2A65A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28" name="Text 26"/>
          <p:cNvSpPr txBox="1"/>
          <p:nvPr/>
        </p:nvSpPr>
        <p:spPr>
          <a:xfrm>
            <a:off x="6583680" y="30449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7040880" y="2971800"/>
            <a:ext cx="4343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Pinecone retrieval with Groq/OpenAI fallback (&gt;10s or no answer)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6583680" y="3941064"/>
            <a:ext cx="310896" cy="310896"/>
          </a:xfrm>
          <a:prstGeom prst="ellipse">
            <a:avLst/>
          </a:prstGeom>
          <a:solidFill>
            <a:srgbClr val="F2A65A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1" name="Text 29"/>
          <p:cNvSpPr txBox="1"/>
          <p:nvPr/>
        </p:nvSpPr>
        <p:spPr>
          <a:xfrm>
            <a:off x="6583680" y="39410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7040880" y="3867912"/>
            <a:ext cx="4343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the build against the 18-point acceptance criteria document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6583680" y="4837176"/>
            <a:ext cx="310896" cy="310896"/>
          </a:xfrm>
          <a:prstGeom prst="ellipse">
            <a:avLst/>
          </a:prstGeom>
          <a:solidFill>
            <a:srgbClr val="F2A65A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4" name="Text 32"/>
          <p:cNvSpPr txBox="1"/>
          <p:nvPr/>
        </p:nvSpPr>
        <p:spPr>
          <a:xfrm>
            <a:off x="6583680" y="48371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35" name="Text 33"/>
          <p:cNvSpPr txBox="1"/>
          <p:nvPr/>
        </p:nvSpPr>
        <p:spPr>
          <a:xfrm>
            <a:off x="7040880" y="4764024"/>
            <a:ext cx="4343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 open items: trip/session data model, hotel provider confirmation</a:t>
            </a:r>
            <a:endParaRPr lang="en-US" sz="1250" dirty="0"/>
          </a:p>
        </p:txBody>
      </p:sp>
      <p:sp>
        <p:nvSpPr>
          <p:cNvPr id="36" name="Text 34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35 | A  —  AI Travel Assistant Chatbot for Your Accessible Flight (YAF)</a:t>
            </a:r>
            <a:endParaRPr lang="en-US" sz="950" dirty="0"/>
          </a:p>
        </p:txBody>
      </p:sp>
      <p:sp>
        <p:nvSpPr>
          <p:cNvPr id="37" name="Text 35"/>
          <p:cNvSpPr txBox="1"/>
          <p:nvPr/>
        </p:nvSpPr>
        <p:spPr>
          <a:xfrm>
            <a:off x="1132301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5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1604</TotalTime>
  <Words>2052</Words>
  <Application>Microsoft Office PowerPoint</Application>
  <PresentationFormat>Widescreen</PresentationFormat>
  <Paragraphs>296</Paragraphs>
  <Slides>14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Daniel Francisco</cp:lastModifiedBy>
  <cp:revision>13</cp:revision>
  <dcterms:created xsi:type="dcterms:W3CDTF">2026-09-07T14:53:51Z</dcterms:created>
  <dcterms:modified xsi:type="dcterms:W3CDTF">2026-09-10T02:49:52Z</dcterms:modified>
</cp:coreProperties>
</file>